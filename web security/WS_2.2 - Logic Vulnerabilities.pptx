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567" r:id="rId2"/>
    <p:sldId id="1200" r:id="rId3"/>
    <p:sldId id="1204" r:id="rId4"/>
    <p:sldId id="1205" r:id="rId5"/>
    <p:sldId id="1153" r:id="rId6"/>
    <p:sldId id="1192" r:id="rId7"/>
    <p:sldId id="1154" r:id="rId8"/>
    <p:sldId id="1155" r:id="rId9"/>
    <p:sldId id="1193" r:id="rId10"/>
    <p:sldId id="1159" r:id="rId11"/>
    <p:sldId id="1172" r:id="rId12"/>
    <p:sldId id="1173" r:id="rId13"/>
    <p:sldId id="1174" r:id="rId14"/>
    <p:sldId id="1189" r:id="rId15"/>
    <p:sldId id="1167" r:id="rId16"/>
    <p:sldId id="1194" r:id="rId17"/>
    <p:sldId id="1156" r:id="rId18"/>
    <p:sldId id="1168" r:id="rId19"/>
    <p:sldId id="1169" r:id="rId20"/>
    <p:sldId id="1170" r:id="rId21"/>
    <p:sldId id="1171" r:id="rId22"/>
    <p:sldId id="1195" r:id="rId23"/>
    <p:sldId id="1161" r:id="rId24"/>
    <p:sldId id="1190" r:id="rId25"/>
    <p:sldId id="1185" r:id="rId26"/>
    <p:sldId id="1183" r:id="rId27"/>
    <p:sldId id="1187" r:id="rId28"/>
    <p:sldId id="1198" r:id="rId29"/>
    <p:sldId id="1188" r:id="rId30"/>
    <p:sldId id="1201" r:id="rId31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e" initials="A" lastIdx="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27" autoAdjust="0"/>
  </p:normalViewPr>
  <p:slideViewPr>
    <p:cSldViewPr>
      <p:cViewPr>
        <p:scale>
          <a:sx n="100" d="100"/>
          <a:sy n="100" d="100"/>
        </p:scale>
        <p:origin x="660" y="9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9" d="100"/>
        <a:sy n="17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EC17B-16E3-FA4B-9123-14A2B07F2CAE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C31AC-9BB5-A24B-A33F-BE9E31A4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290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4/16/2021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9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84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981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4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ctr" anchorCtr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>
            <a:noAutofit/>
          </a:bodyPr>
          <a:lstStyle>
            <a:lvl1pPr>
              <a:buFontTx/>
              <a:buNone/>
              <a:defRPr sz="2800" b="0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>
            <a:noAutofit/>
          </a:bodyPr>
          <a:lstStyle>
            <a:lvl1pPr>
              <a:buFontTx/>
              <a:buNone/>
              <a:defRPr sz="2800" b="0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ctr" anchorCtr="0"/>
          <a:lstStyle>
            <a:lvl1pPr algn="l">
              <a:buNone/>
              <a:defRPr sz="4200" b="0"/>
            </a:lvl1pPr>
            <a:extLst/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>
            <a:normAutofit/>
          </a:bodyPr>
          <a:lstStyle>
            <a:lvl1pPr marL="0" indent="0">
              <a:spcAft>
                <a:spcPts val="1000"/>
              </a:spcAft>
              <a:buNone/>
              <a:defRPr sz="360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ctr" anchorCtr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it-IT" dirty="0"/>
          </a:p>
          <a:p>
            <a:pPr lvl="3"/>
            <a:r>
              <a:rPr lang="it-IT" dirty="0" err="1"/>
              <a:t>Fourth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lvl="4"/>
            <a:r>
              <a:rPr lang="it-IT" dirty="0" err="1"/>
              <a:t>Fifth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>
            <a:noAutofit/>
          </a:bodyPr>
          <a:lstStyle>
            <a:lvl1pPr>
              <a:buFontTx/>
              <a:buNone/>
              <a:defRPr sz="2800" b="0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>
            <a:noAutofit/>
          </a:bodyPr>
          <a:lstStyle>
            <a:lvl1pPr>
              <a:buFontTx/>
              <a:buNone/>
              <a:defRPr sz="2800" b="0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pPr lvl="0"/>
            <a:r>
              <a:rPr lang="it-IT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56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it-IT" dirty="0"/>
          </a:p>
          <a:p>
            <a:pPr lvl="3"/>
            <a:r>
              <a:rPr lang="it-IT" dirty="0" err="1"/>
              <a:t>Fourth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lvl="4"/>
            <a:r>
              <a:rPr lang="it-IT" dirty="0" err="1"/>
              <a:t>Fifth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3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2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ctr">
              <a:defRPr sz="12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ctr" anchorCtr="0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8F5588F6-DCF9-46E5-92D8-DB35EDA855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32259" y="4916329"/>
            <a:ext cx="92204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/>
            <a:r>
              <a:rPr lang="en-US" sz="100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CINI</a:t>
            </a:r>
            <a:r>
              <a:rPr lang="en-US" sz="1000" baseline="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2021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97F156EE-6D00-4B03-952C-E9A5784C04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54306" y="4916688"/>
            <a:ext cx="99738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>
            <a:lvl1pPr algn="r"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Rel. 07.02.2021</a:t>
            </a:r>
          </a:p>
        </p:txBody>
      </p:sp>
      <p:pic>
        <p:nvPicPr>
          <p:cNvPr id="16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B9D459F8-2229-45E2-A21C-4AB84AD5C1C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52400" y="4682246"/>
            <a:ext cx="1524001" cy="450359"/>
          </a:xfrm>
          <a:prstGeom prst="rect">
            <a:avLst/>
          </a:prstGeom>
        </p:spPr>
      </p:pic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CFB61863-D29D-4CBD-8116-D1DB97192FC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767" y="4763201"/>
            <a:ext cx="1068833" cy="3062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2" r:id="rId2"/>
    <p:sldLayoutId id="2147483653" r:id="rId3"/>
    <p:sldLayoutId id="2147483655" r:id="rId4"/>
    <p:sldLayoutId id="2147483656" r:id="rId5"/>
    <p:sldLayoutId id="2147483659" r:id="rId6"/>
    <p:sldLayoutId id="2147483660" r:id="rId7"/>
  </p:sldLayoutIdLst>
  <p:hf hdr="0" ftr="0" dt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rgbClr val="00009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charset="2"/>
        <a:buChar char="Ø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" charset="2"/>
        <a:buChar char="Ø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charset="2"/>
        <a:buChar char="Ø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charset="2"/>
        <a:buChar char="Ø"/>
        <a:defRPr sz="2000" kern="1200">
          <a:solidFill>
            <a:schemeClr val="tx1"/>
          </a:solidFill>
          <a:latin typeface="Helvetica Neue"/>
          <a:ea typeface="+mn-ea"/>
          <a:cs typeface="Helvetica Neue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charset="2"/>
        <a:buChar char="Ø"/>
        <a:defRPr sz="2000" kern="1200">
          <a:solidFill>
            <a:schemeClr val="tx1"/>
          </a:solidFill>
          <a:latin typeface="Helvetica Neue"/>
          <a:ea typeface="+mn-ea"/>
          <a:cs typeface="Helvetica Neue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/3.0/legalcod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ortSwigger/auth-matrix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erone.com/reports/42587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erone.com/reports/364843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6934200" cy="5143500"/>
          </a:xfrm>
          <a:prstGeom prst="rect">
            <a:avLst/>
          </a:prstGeom>
          <a:gradFill rotWithShape="0">
            <a:gsLst>
              <a:gs pos="0">
                <a:srgbClr val="365E8F"/>
              </a:gs>
              <a:gs pos="100000">
                <a:srgbClr val="0F243E"/>
              </a:gs>
            </a:gsLst>
            <a:lin ang="5400000" scaled="1"/>
          </a:gradFill>
          <a:ln w="0">
            <a:noFill/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2663624"/>
            <a:ext cx="6934200" cy="1813126"/>
          </a:xfrm>
          <a:prstGeom prst="rect">
            <a:avLst/>
          </a:prstGeom>
          <a:gradFill flip="none" rotWithShape="1">
            <a:gsLst>
              <a:gs pos="0">
                <a:srgbClr val="365F91">
                  <a:alpha val="36000"/>
                </a:srgbClr>
              </a:gs>
              <a:gs pos="100000">
                <a:srgbClr val="0066FF">
                  <a:alpha val="6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noFill/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 vert="horz" wrap="square" lIns="468000" tIns="360000" rIns="360000" bIns="360000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Helvetica Neue Medium"/>
                <a:cs typeface="Helvetica Neue Medium"/>
              </a:rPr>
              <a:t>Logic Vulnerabilities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533400" cy="285750"/>
          </a:xfrm>
        </p:spPr>
        <p:txBody>
          <a:bodyPr>
            <a:normAutofit/>
          </a:bodyPr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EA82F60-B719-4839-9466-88EA10CEC9F2}"/>
              </a:ext>
            </a:extLst>
          </p:cNvPr>
          <p:cNvSpPr txBox="1">
            <a:spLocks noChangeArrowheads="1"/>
          </p:cNvSpPr>
          <p:nvPr/>
        </p:nvSpPr>
        <p:spPr>
          <a:xfrm>
            <a:off x="6955970" y="64790"/>
            <a:ext cx="2188030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it-IT" b="1" dirty="0">
                <a:solidFill>
                  <a:srgbClr val="000099"/>
                </a:solidFill>
                <a:latin typeface="Calibri"/>
                <a:cs typeface="Calibri"/>
              </a:rPr>
              <a:t>Riccardo BONAFEDE</a:t>
            </a:r>
            <a:endParaRPr lang="it-IT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it-IT" sz="1400" dirty="0">
                <a:solidFill>
                  <a:srgbClr val="000099"/>
                </a:solidFill>
                <a:latin typeface="Calibri"/>
                <a:cs typeface="Calibri"/>
              </a:rPr>
              <a:t>Università di Padova</a:t>
            </a:r>
            <a:endParaRPr lang="it-IT" sz="1400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1DD7EABF-DC0B-46D2-A175-5397CB782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705694"/>
            <a:ext cx="221057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lvl1pPr marL="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it-IT" sz="1400" i="1" dirty="0">
                <a:solidFill>
                  <a:srgbClr val="000099"/>
                </a:solidFill>
                <a:latin typeface="Helvetica Neue Medium"/>
                <a:cs typeface="Helvetica Neue Medium"/>
              </a:rPr>
              <a:t>https://cybersecnatlab.it</a:t>
            </a:r>
          </a:p>
        </p:txBody>
      </p:sp>
      <p:pic>
        <p:nvPicPr>
          <p:cNvPr id="15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A44F66C7-1E30-405B-860E-4C6B95704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885" y="2814020"/>
            <a:ext cx="2160037" cy="638315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0EF036E-DA1E-462D-8A3C-007877B109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19" y="3742606"/>
            <a:ext cx="2005733" cy="5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4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 &amp; 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400" dirty="0"/>
              <a:t>This presentation is licensed under the </a:t>
            </a:r>
            <a:br>
              <a:rPr lang="en-US" sz="1400" dirty="0"/>
            </a:br>
            <a:r>
              <a:rPr lang="en-US" sz="1400" dirty="0"/>
              <a:t>Creative Commons </a:t>
            </a:r>
            <a:r>
              <a:rPr lang="it-IT" sz="1400" dirty="0"/>
              <a:t>BY-NC </a:t>
            </a:r>
            <a:r>
              <a:rPr lang="en-US" sz="1400" dirty="0"/>
              <a:t>License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/>
              <a:t>To view a copy of the license, visit:</a:t>
            </a:r>
          </a:p>
          <a:p>
            <a:pPr marL="0" indent="0" algn="ctr">
              <a:buNone/>
            </a:pPr>
            <a:r>
              <a:rPr lang="it-IT" sz="1200" dirty="0">
                <a:hlinkClick r:id="rId3"/>
              </a:rPr>
              <a:t>http://creativecommons.org/licenses/by-nc/3.0/legalcode</a:t>
            </a:r>
            <a:endParaRPr lang="it-IT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We disclaim any warranties or representations as to the accuracy or completeness of this material.</a:t>
            </a:r>
          </a:p>
          <a:p>
            <a:r>
              <a:rPr lang="en-US" sz="1400" dirty="0"/>
              <a:t>Materials are provided “as is” without warranty of any kind, either express or implied, including without limitation, warranties of merchantability, fitness for a particular purpose, and non-infringement. </a:t>
            </a:r>
          </a:p>
          <a:p>
            <a:r>
              <a:rPr lang="en-US" sz="1400" dirty="0"/>
              <a:t>Under no circumstances shall we be liable for any loss, damage, liability or expense incurred or suffered which is claimed to have resulted from use of this material.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License Information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pic>
        <p:nvPicPr>
          <p:cNvPr id="8" name="Immagine 6" descr="image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0600" y="2647950"/>
            <a:ext cx="3286126" cy="1143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4397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5C07804-0969-0542-AEDF-8E891213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Goal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FACB6-71E4-4049-945C-0A658AC3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7A54CEF-CF3D-EE44-BE2A-C70040B107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Learn how to find and address high level logic errors</a:t>
            </a:r>
          </a:p>
          <a:p>
            <a:r>
              <a:rPr lang="en-GB" sz="2400" dirty="0"/>
              <a:t>Learn how to analyse permissions in web applications</a:t>
            </a:r>
          </a:p>
          <a:p>
            <a:r>
              <a:rPr lang="en-GB" sz="2400" dirty="0"/>
              <a:t>Learn how to analyse functionalities and logic flaws in web applications</a:t>
            </a:r>
            <a:endParaRPr lang="it-IT" sz="2400" dirty="0"/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10440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5C07804-0969-0542-AEDF-8E891213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FACB6-71E4-4049-945C-0A658AC3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7A54CEF-CF3D-EE44-BE2A-C70040B107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Lecture:</a:t>
            </a:r>
          </a:p>
          <a:p>
            <a:pPr lvl="1"/>
            <a:r>
              <a:rPr lang="en-GB" i="1" dirty="0">
                <a:solidFill>
                  <a:srgbClr val="0070C0"/>
                </a:solidFill>
              </a:rPr>
              <a:t>WS_1.1 - HTTP Protocol and Web-Security Overview</a:t>
            </a:r>
          </a:p>
        </p:txBody>
      </p:sp>
    </p:spTree>
    <p:extLst>
      <p:ext uri="{BB962C8B-B14F-4D97-AF65-F5344CB8AC3E}">
        <p14:creationId xmlns:p14="http://schemas.microsoft.com/office/powerpoint/2010/main" val="369980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B3B86B38-5FCF-440C-9382-0800533E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2790DC-AB00-45CE-9823-DC186735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C5FB3052-9BE7-48DB-A2EC-8E7C494E6C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  <a:p>
            <a:r>
              <a:rPr lang="en-US" noProof="0" dirty="0"/>
              <a:t>Access-Control logic vulnerabilities</a:t>
            </a:r>
          </a:p>
          <a:p>
            <a:pPr lvl="1"/>
            <a:r>
              <a:rPr lang="en-US" dirty="0"/>
              <a:t>IDOR</a:t>
            </a:r>
          </a:p>
          <a:p>
            <a:r>
              <a:rPr lang="en-US" dirty="0"/>
              <a:t>Incorrect input</a:t>
            </a:r>
          </a:p>
        </p:txBody>
      </p:sp>
    </p:spTree>
    <p:extLst>
      <p:ext uri="{BB962C8B-B14F-4D97-AF65-F5344CB8AC3E}">
        <p14:creationId xmlns:p14="http://schemas.microsoft.com/office/powerpoint/2010/main" val="129106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B3B86B38-5FCF-440C-9382-0800533E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2790DC-AB00-45CE-9823-DC186735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C5FB3052-9BE7-48DB-A2EC-8E7C494E6C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  <a:p>
            <a:r>
              <a:rPr lang="en-US" noProof="0" dirty="0"/>
              <a:t>Access-Control logic vulnerabilities</a:t>
            </a:r>
          </a:p>
          <a:p>
            <a:pPr lvl="1"/>
            <a:r>
              <a:rPr lang="en-US" dirty="0"/>
              <a:t>IDOR</a:t>
            </a:r>
          </a:p>
          <a:p>
            <a:r>
              <a:rPr lang="en-US" dirty="0"/>
              <a:t>Incorrect input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38FB4-A1A0-4F88-96CE-F15FC0B28CB6}"/>
              </a:ext>
            </a:extLst>
          </p:cNvPr>
          <p:cNvSpPr/>
          <p:nvPr/>
        </p:nvSpPr>
        <p:spPr>
          <a:xfrm>
            <a:off x="631720" y="1855470"/>
            <a:ext cx="6028511" cy="150836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56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3A1A4A-1085-4CA6-8648-370F78EB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E602882-6B45-4D24-A8E0-28B07159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310834-242F-4BFC-92D6-B78A0B42D9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logic vulnerabilities are flaws in the design of an application that let users cause unintended behaviors</a:t>
            </a:r>
          </a:p>
          <a:p>
            <a:r>
              <a:rPr lang="en-US" dirty="0"/>
              <a:t>These flaws often based on wrong assumptions about the user’s behaviors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90862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751ED6-B5DF-45EC-B220-88F4AEC9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Logic Vulnerabilities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B35991F-0831-4E8D-9E9B-4390554F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D34FFA0-B842-4967-BF15-AEC8AD9B92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Logic Vulnerabilities are specific to the applications in which they occur</a:t>
            </a:r>
          </a:p>
          <a:p>
            <a:r>
              <a:rPr lang="en-US" dirty="0"/>
              <a:t>The best way to group them is by the root cause:</a:t>
            </a:r>
          </a:p>
          <a:p>
            <a:pPr lvl="1"/>
            <a:r>
              <a:rPr lang="en-US" dirty="0"/>
              <a:t>Access Control Issues</a:t>
            </a:r>
          </a:p>
          <a:p>
            <a:pPr lvl="1"/>
            <a:r>
              <a:rPr lang="en-US" dirty="0"/>
              <a:t>Wrong assumption of the user behavior</a:t>
            </a:r>
          </a:p>
          <a:p>
            <a:pPr lvl="1"/>
            <a:r>
              <a:rPr lang="en-US" dirty="0"/>
              <a:t>Flawed handling of an Incorrect input</a:t>
            </a:r>
          </a:p>
          <a:p>
            <a:pPr lvl="1"/>
            <a:r>
              <a:rPr lang="en-US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70329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B3B86B38-5FCF-440C-9382-0800533E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2790DC-AB00-45CE-9823-DC186735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C5FB3052-9BE7-48DB-A2EC-8E7C494E6C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  <a:p>
            <a:r>
              <a:rPr lang="en-US" noProof="0" dirty="0"/>
              <a:t>Access-Control logic vulnerabilities</a:t>
            </a:r>
          </a:p>
          <a:p>
            <a:pPr lvl="1"/>
            <a:r>
              <a:rPr lang="en-US" dirty="0"/>
              <a:t>IDOR</a:t>
            </a:r>
          </a:p>
          <a:p>
            <a:r>
              <a:rPr lang="en-US" dirty="0"/>
              <a:t>Incorrect input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38FB4-A1A0-4F88-96CE-F15FC0B28CB6}"/>
              </a:ext>
            </a:extLst>
          </p:cNvPr>
          <p:cNvSpPr/>
          <p:nvPr/>
        </p:nvSpPr>
        <p:spPr>
          <a:xfrm>
            <a:off x="384276" y="1369568"/>
            <a:ext cx="5596464" cy="50025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915AB1-761C-405F-A601-0F9E522EFC42}"/>
              </a:ext>
            </a:extLst>
          </p:cNvPr>
          <p:cNvSpPr/>
          <p:nvPr/>
        </p:nvSpPr>
        <p:spPr>
          <a:xfrm>
            <a:off x="624884" y="2467769"/>
            <a:ext cx="5675308" cy="80590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E3439708-CD73-4061-B2AC-4144134A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Unprotected Functionality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EF72CD-94F2-43D1-B8F5-32D295E9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7591985-961C-42AE-9AFB-4A74410D9B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 most common</a:t>
            </a:r>
            <a:r>
              <a:rPr lang="it-IT" dirty="0"/>
              <a:t> </a:t>
            </a:r>
            <a:r>
              <a:rPr lang="en-US" dirty="0"/>
              <a:t>type of access control issues are the one caused by a </a:t>
            </a:r>
            <a:r>
              <a:rPr lang="en-US" b="1" dirty="0"/>
              <a:t>wrong implementation</a:t>
            </a:r>
            <a:r>
              <a:rPr lang="en-US" dirty="0"/>
              <a:t> of the authentication system</a:t>
            </a:r>
            <a:endParaRPr lang="it-IT" b="1" dirty="0"/>
          </a:p>
          <a:p>
            <a:r>
              <a:rPr lang="en-US" dirty="0"/>
              <a:t>We call these type of issues «</a:t>
            </a:r>
            <a:r>
              <a:rPr lang="en-US" b="1" dirty="0"/>
              <a:t>Unprotected Functionality</a:t>
            </a:r>
            <a:r>
              <a:rPr lang="en-US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51610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A56DA4-9D96-4522-916B-054A4238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Unprotected</a:t>
            </a:r>
            <a:r>
              <a:rPr lang="it-IT" dirty="0"/>
              <a:t> </a:t>
            </a:r>
            <a:r>
              <a:rPr lang="en-US" dirty="0"/>
              <a:t>Functionality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6C24A-C6B8-4EBE-9B3E-93FA15E2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B1D7B2-CB3D-46BC-B431-3ADA43A58AA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Unprotected Functionality flaws arise when the web application does not properly check user’s privileges</a:t>
            </a:r>
          </a:p>
          <a:p>
            <a:r>
              <a:rPr lang="en-US" dirty="0"/>
              <a:t>A trivial example is an administration </a:t>
            </a:r>
            <a:r>
              <a:rPr lang="en-US" i="1" dirty="0"/>
              <a:t>api</a:t>
            </a:r>
            <a:r>
              <a:rPr lang="en-US" dirty="0"/>
              <a:t> that does not enforce the privilege required by the user</a:t>
            </a:r>
          </a:p>
          <a:p>
            <a:pPr marL="365760" lvl="1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2991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62021E-995A-4DCE-A950-B3D73705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Unprotected</a:t>
            </a:r>
            <a:r>
              <a:rPr lang="it-IT" dirty="0"/>
              <a:t> </a:t>
            </a:r>
            <a:r>
              <a:rPr lang="en-US" dirty="0"/>
              <a:t>Functionality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21928-F930-4A77-92DB-0B901FC5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F340ED-33C3-424B-99C3-2F42114C5F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best way to find these vulnerabilities is to try to use them without the required privilege</a:t>
            </a:r>
          </a:p>
          <a:p>
            <a:r>
              <a:rPr lang="en-US" dirty="0"/>
              <a:t>For more complex web applications, with different privilege levels, is it possible to use an authentication matrix:</a:t>
            </a:r>
          </a:p>
          <a:p>
            <a:pPr lvl="1"/>
            <a:r>
              <a:rPr lang="en-US" dirty="0"/>
              <a:t>For every privilege level, create two or more users</a:t>
            </a:r>
          </a:p>
          <a:p>
            <a:pPr lvl="1"/>
            <a:r>
              <a:rPr lang="en-US" dirty="0"/>
              <a:t>For every user, test every functionality and save the result</a:t>
            </a:r>
          </a:p>
          <a:p>
            <a:pPr lvl="1"/>
            <a:r>
              <a:rPr lang="en-US" dirty="0"/>
              <a:t>Now, you can see the matrix created with the result, and it’s easy to spot problems</a:t>
            </a:r>
          </a:p>
          <a:p>
            <a:r>
              <a:rPr lang="en-US" dirty="0"/>
              <a:t>AuthMatrix¹ is a burp plugin to automate this type of testing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F3D31-BE69-4186-A95E-B7EFBCE6D397}"/>
              </a:ext>
            </a:extLst>
          </p:cNvPr>
          <p:cNvSpPr txBox="1"/>
          <p:nvPr/>
        </p:nvSpPr>
        <p:spPr>
          <a:xfrm>
            <a:off x="3048372" y="4490650"/>
            <a:ext cx="3275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1: </a:t>
            </a:r>
            <a:r>
              <a:rPr lang="it-IT" sz="1200" dirty="0">
                <a:hlinkClick r:id="rId2"/>
              </a:rPr>
              <a:t>https://github.com/PortSwigger/auth-matrix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2339509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98C1-8D2E-4E1E-933C-7A7D072A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Unprotected Functionality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032F89-606D-4DEF-BBBE-0488DFE3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E2D78-A709-426C-926C-8DD4897E09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It is also possible that the authentication is present, but is not enforced correctly</a:t>
            </a:r>
          </a:p>
          <a:p>
            <a:r>
              <a:rPr lang="en-US" dirty="0"/>
              <a:t>This happens when the access control is not enforced by the functionality itself, but by some other system, for example by the web server itself</a:t>
            </a:r>
          </a:p>
        </p:txBody>
      </p:sp>
    </p:spTree>
    <p:extLst>
      <p:ext uri="{BB962C8B-B14F-4D97-AF65-F5344CB8AC3E}">
        <p14:creationId xmlns:p14="http://schemas.microsoft.com/office/powerpoint/2010/main" val="163617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2EA8-A798-443C-A9EC-59DF44B82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Unprotected Functionality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596F5-B2D5-481F-B8F8-05ADD768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ED83B-C2D6-4356-9083-8D685564D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For example, the functionality can be accessed in different ways, in which the authentication is not enforced</a:t>
            </a:r>
          </a:p>
          <a:p>
            <a:pPr lvl="1"/>
            <a:endParaRPr lang="en-US" dirty="0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D5B0335F-E95E-4FCF-A18A-F00BE919D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63" y="2859782"/>
            <a:ext cx="2547739" cy="14523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BB5738-888E-4748-93F2-2522C91EC34C}"/>
              </a:ext>
            </a:extLst>
          </p:cNvPr>
          <p:cNvSpPr txBox="1"/>
          <p:nvPr/>
        </p:nvSpPr>
        <p:spPr>
          <a:xfrm>
            <a:off x="5150967" y="3124284"/>
            <a:ext cx="254773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Limit every request that is using a GET or POST method</a:t>
            </a:r>
          </a:p>
        </p:txBody>
      </p:sp>
    </p:spTree>
    <p:extLst>
      <p:ext uri="{BB962C8B-B14F-4D97-AF65-F5344CB8AC3E}">
        <p14:creationId xmlns:p14="http://schemas.microsoft.com/office/powerpoint/2010/main" val="3610463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AA6C979-CDB6-49D6-BBF0-A91846F2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Unprotected</a:t>
            </a:r>
            <a:r>
              <a:rPr lang="it-IT" dirty="0"/>
              <a:t> </a:t>
            </a:r>
            <a:r>
              <a:rPr lang="it-IT" dirty="0" err="1"/>
              <a:t>Functionality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CC4D3-559F-4806-868E-286FDEED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E837BE-20B2-4FE6-BA5C-01CD58964F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Route-based limiting can also be bypassed</a:t>
            </a:r>
          </a:p>
          <a:p>
            <a:pPr lvl="1"/>
            <a:r>
              <a:rPr lang="en-US" dirty="0"/>
              <a:t>Exploit path normalization</a:t>
            </a:r>
          </a:p>
          <a:p>
            <a:pPr lvl="2"/>
            <a:r>
              <a:rPr lang="en-US" dirty="0"/>
              <a:t>/api/v1/</a:t>
            </a:r>
            <a:r>
              <a:rPr lang="en-US" dirty="0" err="1"/>
              <a:t>user_info</a:t>
            </a:r>
            <a:r>
              <a:rPr lang="en-US" dirty="0"/>
              <a:t> == /api/v1/foo/</a:t>
            </a:r>
            <a:r>
              <a:rPr lang="en-US" b="1" dirty="0"/>
              <a:t>..;</a:t>
            </a:r>
            <a:r>
              <a:rPr lang="en-US" dirty="0"/>
              <a:t>/</a:t>
            </a:r>
            <a:r>
              <a:rPr lang="en-US" dirty="0" err="1"/>
              <a:t>user_info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Framework-dependent behaviors</a:t>
            </a:r>
          </a:p>
          <a:p>
            <a:pPr lvl="2"/>
            <a:r>
              <a:rPr lang="en-US" dirty="0"/>
              <a:t>For example, in applications written using the </a:t>
            </a:r>
            <a:r>
              <a:rPr lang="en-US" i="1" dirty="0"/>
              <a:t>ruby on rails </a:t>
            </a:r>
            <a:r>
              <a:rPr lang="en-US" dirty="0"/>
              <a:t>web-application framework</a:t>
            </a:r>
            <a:r>
              <a:rPr lang="en-US" i="1" dirty="0"/>
              <a:t> </a:t>
            </a:r>
            <a:r>
              <a:rPr lang="en-US" dirty="0"/>
              <a:t>it is possible to append “.json”  to a route. Often, developers forget to check the authentication on these paths</a:t>
            </a:r>
          </a:p>
        </p:txBody>
      </p:sp>
    </p:spTree>
    <p:extLst>
      <p:ext uri="{BB962C8B-B14F-4D97-AF65-F5344CB8AC3E}">
        <p14:creationId xmlns:p14="http://schemas.microsoft.com/office/powerpoint/2010/main" val="1924151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B3B86B38-5FCF-440C-9382-0800533E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2790DC-AB00-45CE-9823-DC186735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C5FB3052-9BE7-48DB-A2EC-8E7C494E6C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  <a:p>
            <a:r>
              <a:rPr lang="en-US" noProof="0" dirty="0"/>
              <a:t>Access-Control logic vulnerabilities</a:t>
            </a:r>
          </a:p>
          <a:p>
            <a:pPr lvl="1"/>
            <a:r>
              <a:rPr lang="en-US" dirty="0"/>
              <a:t>IDOR</a:t>
            </a:r>
          </a:p>
          <a:p>
            <a:r>
              <a:rPr lang="en-US" dirty="0"/>
              <a:t>Incorrect input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38FB4-A1A0-4F88-96CE-F15FC0B28CB6}"/>
              </a:ext>
            </a:extLst>
          </p:cNvPr>
          <p:cNvSpPr/>
          <p:nvPr/>
        </p:nvSpPr>
        <p:spPr>
          <a:xfrm>
            <a:off x="384276" y="1369568"/>
            <a:ext cx="5596464" cy="50025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915AB1-761C-405F-A601-0F9E522EFC42}"/>
              </a:ext>
            </a:extLst>
          </p:cNvPr>
          <p:cNvSpPr/>
          <p:nvPr/>
        </p:nvSpPr>
        <p:spPr>
          <a:xfrm>
            <a:off x="624884" y="2859782"/>
            <a:ext cx="5675308" cy="4138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77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C40266-CBDD-4BD8-877E-A7BD4F81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Unprotected</a:t>
            </a:r>
            <a:r>
              <a:rPr lang="it-IT" dirty="0"/>
              <a:t> </a:t>
            </a:r>
            <a:r>
              <a:rPr lang="it-IT" dirty="0" err="1"/>
              <a:t>Functionality</a:t>
            </a:r>
            <a:r>
              <a:rPr lang="it-IT" dirty="0"/>
              <a:t> - IDOR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4C0E3F8A-904D-4CB8-BB1E-64B40FD3E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7BD6D95-0E94-482A-9AE1-8BA0E371520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IDOR – Insecure Direct Object Reference</a:t>
            </a:r>
          </a:p>
          <a:p>
            <a:pPr lvl="1"/>
            <a:r>
              <a:rPr lang="en-US" dirty="0"/>
              <a:t>One of the most common flaws in web applications</a:t>
            </a:r>
          </a:p>
          <a:p>
            <a:pPr lvl="1"/>
            <a:r>
              <a:rPr lang="en-US" dirty="0"/>
              <a:t>Arises when user input is used to access data directly and no authorization is enforced</a:t>
            </a:r>
          </a:p>
          <a:p>
            <a:pPr lvl="1"/>
            <a:r>
              <a:rPr lang="en-US" dirty="0"/>
              <a:t>Permits a horizontal privilege escalation</a:t>
            </a:r>
          </a:p>
        </p:txBody>
      </p:sp>
    </p:spTree>
    <p:extLst>
      <p:ext uri="{BB962C8B-B14F-4D97-AF65-F5344CB8AC3E}">
        <p14:creationId xmlns:p14="http://schemas.microsoft.com/office/powerpoint/2010/main" val="2203252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D971A0-69EF-4981-9C39-8E85C9993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Unprotected</a:t>
            </a:r>
            <a:r>
              <a:rPr lang="it-IT" dirty="0"/>
              <a:t> </a:t>
            </a:r>
            <a:r>
              <a:rPr lang="it-IT" dirty="0" err="1"/>
              <a:t>Functionality</a:t>
            </a:r>
            <a:r>
              <a:rPr lang="it-IT" dirty="0"/>
              <a:t> - IDOR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0CA28-5A96-4B5C-AD13-30DA28C8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53211A-F6A1-41CF-AAB1-49E9402AF8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/>
              <a:t>An example from “Vimeo.com Insecure Direct Object References Reset Password”¹</a:t>
            </a:r>
            <a:endParaRPr lang="it-IT" sz="2400" dirty="0"/>
          </a:p>
          <a:p>
            <a:r>
              <a:rPr lang="en-US" sz="2400" dirty="0"/>
              <a:t>When</a:t>
            </a:r>
            <a:r>
              <a:rPr lang="it-IT" sz="2400" dirty="0"/>
              <a:t> </a:t>
            </a:r>
            <a:r>
              <a:rPr lang="it-IT" sz="2400" dirty="0" err="1"/>
              <a:t>resetting</a:t>
            </a:r>
            <a:r>
              <a:rPr lang="it-IT" sz="2400" dirty="0"/>
              <a:t> a password, </a:t>
            </a:r>
            <a:r>
              <a:rPr lang="it-IT" sz="2400" dirty="0" err="1"/>
              <a:t>Vimeo</a:t>
            </a:r>
            <a:r>
              <a:rPr lang="it-IT" sz="2400" dirty="0"/>
              <a:t> </a:t>
            </a:r>
            <a:r>
              <a:rPr lang="it-IT" sz="2400" dirty="0" err="1"/>
              <a:t>sends</a:t>
            </a:r>
            <a:r>
              <a:rPr lang="it-IT" sz="2400" dirty="0"/>
              <a:t> a reset link to the user email</a:t>
            </a:r>
          </a:p>
          <a:p>
            <a:r>
              <a:rPr lang="it-IT" sz="2400" dirty="0"/>
              <a:t>The link </a:t>
            </a:r>
            <a:r>
              <a:rPr lang="it-IT" sz="2400" dirty="0" err="1"/>
              <a:t>is</a:t>
            </a:r>
            <a:r>
              <a:rPr lang="it-IT" sz="2400" dirty="0"/>
              <a:t> in the </a:t>
            </a:r>
            <a:r>
              <a:rPr lang="it-IT" sz="2400" dirty="0" err="1"/>
              <a:t>form</a:t>
            </a:r>
            <a:r>
              <a:rPr lang="it-IT" sz="2400" dirty="0"/>
              <a:t>:</a:t>
            </a:r>
          </a:p>
          <a:p>
            <a:pPr marL="834390" lvl="1" indent="-514350"/>
            <a:r>
              <a:rPr lang="it-IT" sz="1600" dirty="0">
                <a:effectLst/>
                <a:latin typeface="Arial" panose="020B0604020202020204" pitchFamily="34" charset="0"/>
              </a:rPr>
              <a:t>https://vimeo.com/forgot_password/[user_id]/[token]</a:t>
            </a:r>
            <a:endParaRPr lang="it-IT" sz="2000" dirty="0"/>
          </a:p>
          <a:p>
            <a:pPr marL="320040" lvl="1" indent="0">
              <a:buNone/>
            </a:pPr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FDFB9-8DD9-450A-B568-438E337F0F2F}"/>
              </a:ext>
            </a:extLst>
          </p:cNvPr>
          <p:cNvSpPr txBox="1"/>
          <p:nvPr/>
        </p:nvSpPr>
        <p:spPr>
          <a:xfrm>
            <a:off x="5376291" y="4321373"/>
            <a:ext cx="3158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1: </a:t>
            </a:r>
            <a:r>
              <a:rPr lang="it-IT" sz="1400" dirty="0">
                <a:hlinkClick r:id="rId2"/>
              </a:rPr>
              <a:t>https://hackerone.com/reports/42587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03429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B0A6-65E2-474D-8322-C858633C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Unprotected</a:t>
            </a:r>
            <a:r>
              <a:rPr lang="it-IT" dirty="0"/>
              <a:t> </a:t>
            </a:r>
            <a:r>
              <a:rPr lang="it-IT" dirty="0" err="1"/>
              <a:t>Functionality</a:t>
            </a:r>
            <a:r>
              <a:rPr lang="it-IT" dirty="0"/>
              <a:t> - IDOR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4B1872-C8DC-48CE-BACF-F94BCE4E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1B2AD-286C-4014-9B1D-4751B94E2C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b="1" dirty="0" err="1">
                <a:latin typeface="Consolas" panose="020B0609020204030204" pitchFamily="49" charset="0"/>
              </a:rPr>
              <a:t>user_id</a:t>
            </a:r>
            <a:r>
              <a:rPr lang="it-IT" b="1" dirty="0">
                <a:latin typeface="Consolas" panose="020B0609020204030204" pitchFamily="49" charset="0"/>
              </a:rPr>
              <a:t> </a:t>
            </a:r>
            <a:r>
              <a:rPr lang="it-IT" dirty="0" err="1"/>
              <a:t>is</a:t>
            </a:r>
            <a:r>
              <a:rPr lang="it-IT" dirty="0"/>
              <a:t> the id of the user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requests</a:t>
            </a:r>
            <a:r>
              <a:rPr lang="it-IT" dirty="0"/>
              <a:t> the password </a:t>
            </a:r>
            <a:r>
              <a:rPr lang="it-IT" dirty="0" err="1"/>
              <a:t>change</a:t>
            </a:r>
            <a:endParaRPr lang="it-IT" dirty="0"/>
          </a:p>
          <a:p>
            <a:r>
              <a:rPr lang="it-IT" b="1" dirty="0">
                <a:latin typeface="Consolas" panose="020B0609020204030204" pitchFamily="49" charset="0"/>
              </a:rPr>
              <a:t>token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one time secret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Vimeo</a:t>
            </a:r>
            <a:r>
              <a:rPr lang="it-IT" dirty="0"/>
              <a:t> </a:t>
            </a:r>
            <a:r>
              <a:rPr lang="it-IT" dirty="0" err="1"/>
              <a:t>uses</a:t>
            </a:r>
            <a:r>
              <a:rPr lang="it-IT" dirty="0"/>
              <a:t> to </a:t>
            </a:r>
            <a:r>
              <a:rPr lang="it-IT" dirty="0" err="1"/>
              <a:t>verify</a:t>
            </a:r>
            <a:r>
              <a:rPr lang="it-IT" dirty="0"/>
              <a:t> the </a:t>
            </a:r>
            <a:r>
              <a:rPr lang="it-IT" dirty="0" err="1"/>
              <a:t>identity</a:t>
            </a:r>
            <a:r>
              <a:rPr lang="it-IT" dirty="0"/>
              <a:t> of the user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requests</a:t>
            </a:r>
            <a:r>
              <a:rPr lang="it-IT" dirty="0"/>
              <a:t> the password </a:t>
            </a:r>
            <a:r>
              <a:rPr lang="it-IT" dirty="0" err="1"/>
              <a:t>change</a:t>
            </a:r>
            <a:endParaRPr lang="it-IT" dirty="0"/>
          </a:p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the token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linked</a:t>
            </a:r>
            <a:r>
              <a:rPr lang="it-IT" dirty="0"/>
              <a:t> to the </a:t>
            </a:r>
            <a:r>
              <a:rPr lang="it-IT" dirty="0" err="1"/>
              <a:t>user_id</a:t>
            </a:r>
            <a:r>
              <a:rPr lang="it-IT" dirty="0"/>
              <a:t> ? </a:t>
            </a:r>
          </a:p>
        </p:txBody>
      </p:sp>
    </p:spTree>
    <p:extLst>
      <p:ext uri="{BB962C8B-B14F-4D97-AF65-F5344CB8AC3E}">
        <p14:creationId xmlns:p14="http://schemas.microsoft.com/office/powerpoint/2010/main" val="3025181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CEDE98-75EF-4C0C-82CF-8B6E9A49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Unprotected</a:t>
            </a:r>
            <a:r>
              <a:rPr lang="it-IT" dirty="0"/>
              <a:t> </a:t>
            </a:r>
            <a:r>
              <a:rPr lang="it-IT" dirty="0" err="1"/>
              <a:t>Functionality</a:t>
            </a:r>
            <a:r>
              <a:rPr lang="it-IT" dirty="0"/>
              <a:t> - IDOR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B6309-BC4F-4BD0-A774-74B4AB19C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297AB3-DD39-4A46-9A9D-85FB1EDA65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Changing the user-id permits to change other users password, because the token is still valid</a:t>
            </a:r>
          </a:p>
          <a:p>
            <a:endParaRPr lang="en-US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421FF0-4616-42FE-8CE7-21C73A13B3E2}"/>
              </a:ext>
            </a:extLst>
          </p:cNvPr>
          <p:cNvSpPr txBox="1"/>
          <p:nvPr/>
        </p:nvSpPr>
        <p:spPr>
          <a:xfrm>
            <a:off x="1259632" y="2668253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effectLst/>
                <a:latin typeface="Arial" panose="020B0604020202020204" pitchFamily="34" charset="0"/>
              </a:rPr>
              <a:t>https://vimeo.com/forgot_password/1234567/</a:t>
            </a:r>
            <a:r>
              <a:rPr lang="it-IT" dirty="0"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7aaor252m19kjtkvtr</a:t>
            </a:r>
            <a:endParaRPr lang="it-IT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30DDA-4D60-4A66-BC24-821BC5D7FB64}"/>
              </a:ext>
            </a:extLst>
          </p:cNvPr>
          <p:cNvSpPr txBox="1"/>
          <p:nvPr/>
        </p:nvSpPr>
        <p:spPr>
          <a:xfrm>
            <a:off x="1259632" y="3701227"/>
            <a:ext cx="6814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effectLst/>
                <a:latin typeface="Arial" panose="020B0604020202020204" pitchFamily="34" charset="0"/>
              </a:rPr>
              <a:t>https://vimeo.com/forgot_password/</a:t>
            </a:r>
            <a:r>
              <a:rPr lang="it-IT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9876543</a:t>
            </a:r>
            <a:r>
              <a:rPr lang="it-IT" dirty="0">
                <a:effectLst/>
                <a:latin typeface="Arial" panose="020B0604020202020204" pitchFamily="34" charset="0"/>
              </a:rPr>
              <a:t>/</a:t>
            </a:r>
            <a:r>
              <a:rPr lang="it-IT" dirty="0"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7aaor252m19kjtkvtr</a:t>
            </a:r>
            <a:endParaRPr lang="it-IT" dirty="0">
              <a:solidFill>
                <a:srgbClr val="00B050"/>
              </a:solidFill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548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03A8AA-6700-478B-81A4-6ED267AD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Unprotected</a:t>
            </a:r>
            <a:r>
              <a:rPr lang="it-IT" dirty="0"/>
              <a:t> </a:t>
            </a:r>
            <a:r>
              <a:rPr lang="it-IT" dirty="0" err="1"/>
              <a:t>Functionality</a:t>
            </a:r>
            <a:r>
              <a:rPr lang="it-IT" dirty="0"/>
              <a:t> - IDOR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3560C-CBE9-4824-BE13-125BF6B2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13DB00-8BA5-4C7F-A42B-3DF2EC1D41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To find IDORs: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Look at the request’s parameters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If you find something that can be a reference, try to change it</a:t>
            </a:r>
          </a:p>
          <a:p>
            <a:pPr marL="502920" indent="-457200">
              <a:buFont typeface="+mj-lt"/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16362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B3B86B38-5FCF-440C-9382-0800533E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2790DC-AB00-45CE-9823-DC186735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C5FB3052-9BE7-48DB-A2EC-8E7C494E6C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  <a:p>
            <a:r>
              <a:rPr lang="en-US" noProof="0" dirty="0"/>
              <a:t>Access-Control logic vulnerabilities</a:t>
            </a:r>
          </a:p>
          <a:p>
            <a:pPr lvl="1"/>
            <a:r>
              <a:rPr lang="en-US" dirty="0"/>
              <a:t>IDOR</a:t>
            </a:r>
          </a:p>
          <a:p>
            <a:r>
              <a:rPr lang="en-US" dirty="0"/>
              <a:t>Incorrect input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38FB4-A1A0-4F88-96CE-F15FC0B28CB6}"/>
              </a:ext>
            </a:extLst>
          </p:cNvPr>
          <p:cNvSpPr/>
          <p:nvPr/>
        </p:nvSpPr>
        <p:spPr>
          <a:xfrm>
            <a:off x="384276" y="1369568"/>
            <a:ext cx="5596464" cy="14445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45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0E2171E1-56AD-4DA2-B3DA-7263AA6B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Incorrect Input Handling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AE59CF6-46BA-484C-A647-9F6EF863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FA25B8D5-11C2-42E4-A62F-1F39AE924A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Other types of logic flaws arise when a malicious user can provide a wrong input type to a web app</a:t>
            </a:r>
          </a:p>
          <a:p>
            <a:r>
              <a:rPr lang="en-US" dirty="0"/>
              <a:t>A lot of developers assume that the input type can be enforced client-side 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2990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2941A4-C72E-4537-A644-4637F8B7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Input Handling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263FC-3166-46BB-B98F-7652EC91E8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For example, if a textbox is disabled doesn’t mean that an attacker can send that parameter to the server</a:t>
            </a:r>
          </a:p>
        </p:txBody>
      </p:sp>
      <p:pic>
        <p:nvPicPr>
          <p:cNvPr id="8" name="Content Placeholder 7" descr="Text&#10;&#10;Description automatically generated">
            <a:extLst>
              <a:ext uri="{FF2B5EF4-FFF2-40B4-BE49-F238E27FC236}">
                <a16:creationId xmlns:a16="http://schemas.microsoft.com/office/drawing/2014/main" id="{0C2C6CB5-CF31-480F-A969-B625EBB6075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378940"/>
            <a:ext cx="4375274" cy="1215846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F03C0-D2E5-4BFE-9AA8-9704A76BE0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80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B003FB4-855F-4677-BA55-2551A270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Input Handling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A5A93F-1EC6-431C-9BBA-535C3F6E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E16FF-191E-4499-BF53-2CE0945C0B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But, as you may know at this point, it is trivial to provide arbitrary values to the server by making a raw request</a:t>
            </a:r>
          </a:p>
          <a:p>
            <a:r>
              <a:rPr lang="en-US" dirty="0"/>
              <a:t>If the web application does not handle this input correctly, then logic flaws may arise</a:t>
            </a:r>
          </a:p>
        </p:txBody>
      </p:sp>
    </p:spTree>
    <p:extLst>
      <p:ext uri="{BB962C8B-B14F-4D97-AF65-F5344CB8AC3E}">
        <p14:creationId xmlns:p14="http://schemas.microsoft.com/office/powerpoint/2010/main" val="1693753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8E41-DBEF-4B31-97F3-D590BE2C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Input Handling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FB1AAA-23F0-4C43-9404-56C21D34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091C9-F2FC-4819-9E70-4C20D8441A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real-world example is provided in the report </a:t>
            </a:r>
            <a:r>
              <a:rPr lang="en-US" dirty="0">
                <a:hlinkClick r:id="rId2"/>
              </a:rPr>
              <a:t>https://hackerone.com/reports/364843</a:t>
            </a:r>
            <a:endParaRPr lang="en-US" dirty="0"/>
          </a:p>
          <a:p>
            <a:r>
              <a:rPr lang="en-US" dirty="0"/>
              <a:t>Using this kind of flaw, a researcher found a vulnerability in the site </a:t>
            </a:r>
            <a:r>
              <a:rPr lang="en-US" b="1" dirty="0"/>
              <a:t>upserve.com</a:t>
            </a:r>
            <a:r>
              <a:rPr lang="en-US" i="1" dirty="0"/>
              <a:t>, </a:t>
            </a:r>
            <a:r>
              <a:rPr lang="en-US" dirty="0"/>
              <a:t>a </a:t>
            </a:r>
            <a:r>
              <a:rPr lang="en-US" i="1" dirty="0"/>
              <a:t>“</a:t>
            </a:r>
            <a:r>
              <a:rPr lang="en-US" i="1" dirty="0">
                <a:effectLst/>
              </a:rPr>
              <a:t>Restaurant Management Software”</a:t>
            </a:r>
            <a:r>
              <a:rPr lang="en-US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3654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373A-02A6-4F61-A5C9-857D23EB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Input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3D8EB9-BDAD-4978-8EA0-B4567235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444F7-79A3-4505-A58B-748D5C3466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 vulnerable function works as follows:</a:t>
            </a:r>
          </a:p>
          <a:p>
            <a:pPr lvl="1"/>
            <a:r>
              <a:rPr lang="en-US" dirty="0"/>
              <a:t>A user add some items to its personal cart</a:t>
            </a:r>
          </a:p>
          <a:p>
            <a:pPr lvl="1"/>
            <a:r>
              <a:rPr lang="en-US" dirty="0"/>
              <a:t>Completed the order, the user can finalize the payment</a:t>
            </a:r>
          </a:p>
          <a:p>
            <a:pPr lvl="1"/>
            <a:r>
              <a:rPr lang="en-US" dirty="0"/>
              <a:t>The final price was calculated by summing the total cost of each different items multiplied the desired quantity</a:t>
            </a:r>
          </a:p>
          <a:p>
            <a:pPr marL="36576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312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B84A-3814-43EE-8DED-B76916DF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Input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206A1-1F78-4587-BF6F-2C9CDA7E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15FB0-BE51-4D19-8E9C-9D2921A2A6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 app was flawed; in fact, it didn’t expect a negative value in the quantity of an item</a:t>
            </a:r>
          </a:p>
          <a:p>
            <a:r>
              <a:rPr lang="en-US" dirty="0"/>
              <a:t>Because of this, it was possible to get a “discount” on the final price</a:t>
            </a:r>
          </a:p>
          <a:p>
            <a:r>
              <a:rPr lang="en-US" dirty="0"/>
              <a:t>To do so, the attacker needs to buy some products, then add a negative value to the quantity of one of the items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339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420B56-06C3-44C6-8C42-69F8823A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Input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1024E-5CA4-4C50-81F1-D48AF8A5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5DEBC7-3B17-4D04-B580-737D6216D5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If the quantity of a product is negative, then its cost is subtracted from the total</a:t>
            </a:r>
          </a:p>
          <a:p>
            <a:r>
              <a:rPr lang="en-US" dirty="0"/>
              <a:t>This was possible because the web app didn’t expect a negative value: </a:t>
            </a:r>
          </a:p>
          <a:p>
            <a:pPr lvl="1"/>
            <a:r>
              <a:rPr lang="en-US" dirty="0">
                <a:solidFill>
                  <a:srgbClr val="C92C2C"/>
                </a:solidFill>
                <a:effectLst/>
              </a:rPr>
              <a:t>"name"</a:t>
            </a:r>
            <a:r>
              <a:rPr lang="en-US" dirty="0">
                <a:solidFill>
                  <a:srgbClr val="A67F59"/>
                </a:solidFill>
                <a:effectLst/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2F9C0A"/>
                </a:solidFill>
                <a:effectLst/>
              </a:rPr>
              <a:t>"</a:t>
            </a:r>
            <a:r>
              <a:rPr lang="en-US" dirty="0" err="1">
                <a:solidFill>
                  <a:srgbClr val="2F9C0A"/>
                </a:solidFill>
                <a:effectLst/>
              </a:rPr>
              <a:t>BreadPudding</a:t>
            </a:r>
            <a:r>
              <a:rPr lang="en-US" dirty="0">
                <a:solidFill>
                  <a:srgbClr val="2F9C0A"/>
                </a:solidFill>
                <a:effectLst/>
              </a:rPr>
              <a:t>"</a:t>
            </a:r>
            <a:r>
              <a:rPr lang="en-US" dirty="0">
                <a:solidFill>
                  <a:srgbClr val="5F6364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C92C2C"/>
                </a:solidFill>
                <a:effectLst/>
              </a:rPr>
              <a:t>"price"</a:t>
            </a:r>
            <a:r>
              <a:rPr lang="en-US" dirty="0">
                <a:solidFill>
                  <a:srgbClr val="A67F59"/>
                </a:solidFill>
                <a:effectLst/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C92C2C"/>
                </a:solidFill>
                <a:effectLst/>
              </a:rPr>
              <a:t>900</a:t>
            </a:r>
            <a:r>
              <a:rPr lang="en-US" dirty="0">
                <a:solidFill>
                  <a:srgbClr val="5F6364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C92C2C"/>
                </a:solidFill>
                <a:effectLst/>
              </a:rPr>
              <a:t>"quantity"</a:t>
            </a:r>
            <a:r>
              <a:rPr lang="en-US" dirty="0">
                <a:solidFill>
                  <a:srgbClr val="A67F59"/>
                </a:solidFill>
                <a:effectLst/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C92C2C"/>
                </a:solidFill>
                <a:effectLst/>
              </a:rPr>
              <a:t>-1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991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6934200" cy="5143500"/>
          </a:xfrm>
          <a:prstGeom prst="rect">
            <a:avLst/>
          </a:prstGeom>
          <a:gradFill rotWithShape="0">
            <a:gsLst>
              <a:gs pos="0">
                <a:srgbClr val="365E8F"/>
              </a:gs>
              <a:gs pos="100000">
                <a:srgbClr val="0F243E"/>
              </a:gs>
            </a:gsLst>
            <a:lin ang="5400000" scaled="1"/>
          </a:gradFill>
          <a:ln w="0">
            <a:noFill/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2663624"/>
            <a:ext cx="6934200" cy="1813126"/>
          </a:xfrm>
          <a:prstGeom prst="rect">
            <a:avLst/>
          </a:prstGeom>
          <a:gradFill flip="none" rotWithShape="1">
            <a:gsLst>
              <a:gs pos="0">
                <a:srgbClr val="365F91">
                  <a:alpha val="36000"/>
                </a:srgbClr>
              </a:gs>
              <a:gs pos="100000">
                <a:srgbClr val="0066FF">
                  <a:alpha val="6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noFill/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 vert="horz" wrap="square" lIns="468000" tIns="360000" rIns="360000" bIns="360000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Helvetica Neue Medium"/>
                <a:cs typeface="Helvetica Neue Medium"/>
              </a:rPr>
              <a:t>Logic Vulnerabilities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533400" cy="285750"/>
          </a:xfrm>
        </p:spPr>
        <p:txBody>
          <a:bodyPr>
            <a:normAutofit/>
          </a:bodyPr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30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EA82F60-B719-4839-9466-88EA10CEC9F2}"/>
              </a:ext>
            </a:extLst>
          </p:cNvPr>
          <p:cNvSpPr txBox="1">
            <a:spLocks noChangeArrowheads="1"/>
          </p:cNvSpPr>
          <p:nvPr/>
        </p:nvSpPr>
        <p:spPr>
          <a:xfrm>
            <a:off x="6955970" y="64790"/>
            <a:ext cx="2188030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it-IT" b="1" dirty="0">
                <a:solidFill>
                  <a:srgbClr val="000099"/>
                </a:solidFill>
                <a:latin typeface="Calibri"/>
                <a:cs typeface="Calibri"/>
              </a:rPr>
              <a:t>Riccardo BONAFEDE</a:t>
            </a:r>
            <a:endParaRPr lang="it-IT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it-IT" sz="1400" dirty="0">
                <a:solidFill>
                  <a:srgbClr val="000099"/>
                </a:solidFill>
                <a:latin typeface="Calibri"/>
                <a:cs typeface="Calibri"/>
              </a:rPr>
              <a:t>Università di Padova</a:t>
            </a:r>
            <a:endParaRPr lang="it-IT" sz="1400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1DD7EABF-DC0B-46D2-A175-5397CB782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705694"/>
            <a:ext cx="221057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lvl1pPr marL="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it-IT" sz="1400" i="1" dirty="0" err="1">
                <a:solidFill>
                  <a:srgbClr val="000099"/>
                </a:solidFill>
                <a:latin typeface="Helvetica Neue Medium"/>
                <a:cs typeface="Helvetica Neue Medium"/>
              </a:rPr>
              <a:t>https</a:t>
            </a:r>
            <a:r>
              <a:rPr lang="it-IT" sz="1400" i="1" dirty="0">
                <a:solidFill>
                  <a:srgbClr val="000099"/>
                </a:solidFill>
                <a:latin typeface="Helvetica Neue Medium"/>
                <a:cs typeface="Helvetica Neue Medium"/>
              </a:rPr>
              <a:t>://</a:t>
            </a:r>
            <a:r>
              <a:rPr lang="it-IT" sz="1400" i="1" dirty="0" err="1">
                <a:solidFill>
                  <a:srgbClr val="000099"/>
                </a:solidFill>
                <a:latin typeface="Helvetica Neue Medium"/>
                <a:cs typeface="Helvetica Neue Medium"/>
              </a:rPr>
              <a:t>cybersecnatlab.it</a:t>
            </a:r>
            <a:endParaRPr lang="it-IT" sz="1400" i="1" dirty="0">
              <a:solidFill>
                <a:srgbClr val="000099"/>
              </a:solidFill>
              <a:latin typeface="Helvetica Neue Medium"/>
              <a:cs typeface="Helvetica Neue Medium"/>
            </a:endParaRPr>
          </a:p>
        </p:txBody>
      </p:sp>
      <p:pic>
        <p:nvPicPr>
          <p:cNvPr id="15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A44F66C7-1E30-405B-860E-4C6B95704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885" y="2814020"/>
            <a:ext cx="2160037" cy="638315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0EF036E-DA1E-462D-8A3C-007877B109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19" y="3742606"/>
            <a:ext cx="2005733" cy="5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99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 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_2.1 - SQL Injections.pptx" id="{20513045-0FB3-4DA9-9B40-449BD9784A13}" vid="{E22F74CE-1F7A-4D4B-8653-EBC0D963A8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CC_template</Template>
  <TotalTime>54</TotalTime>
  <Words>1174</Words>
  <Application>Microsoft Office PowerPoint</Application>
  <PresentationFormat>On-screen Show (16:9)</PresentationFormat>
  <Paragraphs>171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Consolas</vt:lpstr>
      <vt:lpstr>Helvetica Neue</vt:lpstr>
      <vt:lpstr>Helvetica Neue Medium</vt:lpstr>
      <vt:lpstr>Tw Cen MT</vt:lpstr>
      <vt:lpstr>Wingdings</vt:lpstr>
      <vt:lpstr>Widescreen Presentation</vt:lpstr>
      <vt:lpstr>PowerPoint Presentation</vt:lpstr>
      <vt:lpstr>License &amp; Disclaimer</vt:lpstr>
      <vt:lpstr>Goal</vt:lpstr>
      <vt:lpstr>Prerequisites</vt:lpstr>
      <vt:lpstr>Outline</vt:lpstr>
      <vt:lpstr>Outline</vt:lpstr>
      <vt:lpstr>Introduction</vt:lpstr>
      <vt:lpstr>Types of Logic Vulnerabilities</vt:lpstr>
      <vt:lpstr>Outline</vt:lpstr>
      <vt:lpstr>Unprotected Functionality</vt:lpstr>
      <vt:lpstr>Unprotected Functionality</vt:lpstr>
      <vt:lpstr>Unprotected Functionality</vt:lpstr>
      <vt:lpstr>Unprotected Functionality</vt:lpstr>
      <vt:lpstr>Unprotected Functionality</vt:lpstr>
      <vt:lpstr>Unprotected Functionality</vt:lpstr>
      <vt:lpstr>Outline</vt:lpstr>
      <vt:lpstr>Unprotected Functionality - IDOR</vt:lpstr>
      <vt:lpstr>Unprotected Functionality - IDOR</vt:lpstr>
      <vt:lpstr>Unprotected Functionality - IDOR</vt:lpstr>
      <vt:lpstr>Unprotected Functionality - IDOR</vt:lpstr>
      <vt:lpstr>Unprotected Functionality - IDOR</vt:lpstr>
      <vt:lpstr>Outline</vt:lpstr>
      <vt:lpstr>Incorrect Input Handling</vt:lpstr>
      <vt:lpstr>Incorrect Input Handling</vt:lpstr>
      <vt:lpstr>Incorrect Input Handling</vt:lpstr>
      <vt:lpstr>Incorrect Input Handling</vt:lpstr>
      <vt:lpstr>Incorrect Input</vt:lpstr>
      <vt:lpstr>Incorrect Input</vt:lpstr>
      <vt:lpstr>Incorrect Input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Bonafede Riccardo</dc:creator>
  <cp:lastModifiedBy>Gaspare Ferraro</cp:lastModifiedBy>
  <cp:revision>77</cp:revision>
  <cp:lastPrinted>2019-06-17T08:00:26Z</cp:lastPrinted>
  <dcterms:created xsi:type="dcterms:W3CDTF">2021-03-12T14:45:12Z</dcterms:created>
  <dcterms:modified xsi:type="dcterms:W3CDTF">2021-04-16T09:47:49Z</dcterms:modified>
</cp:coreProperties>
</file>