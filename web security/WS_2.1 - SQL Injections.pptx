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567" r:id="rId2"/>
    <p:sldId id="1200" r:id="rId3"/>
    <p:sldId id="1204" r:id="rId4"/>
    <p:sldId id="1205" r:id="rId5"/>
    <p:sldId id="1079" r:id="rId6"/>
    <p:sldId id="1153" r:id="rId7"/>
    <p:sldId id="1094" r:id="rId8"/>
    <p:sldId id="1095" r:id="rId9"/>
    <p:sldId id="1088" r:id="rId10"/>
    <p:sldId id="1172" r:id="rId11"/>
    <p:sldId id="1090" r:id="rId12"/>
    <p:sldId id="1091" r:id="rId13"/>
    <p:sldId id="1092" r:id="rId14"/>
    <p:sldId id="1093" r:id="rId15"/>
    <p:sldId id="1150" r:id="rId16"/>
    <p:sldId id="1159" r:id="rId17"/>
    <p:sldId id="1096" r:id="rId18"/>
    <p:sldId id="1097" r:id="rId19"/>
    <p:sldId id="1098" r:id="rId20"/>
    <p:sldId id="1100" r:id="rId21"/>
    <p:sldId id="1101" r:id="rId22"/>
    <p:sldId id="1102" r:id="rId23"/>
    <p:sldId id="1103" r:id="rId24"/>
    <p:sldId id="1104" r:id="rId25"/>
    <p:sldId id="1105" r:id="rId26"/>
    <p:sldId id="1155" r:id="rId27"/>
    <p:sldId id="1106" r:id="rId28"/>
    <p:sldId id="1107" r:id="rId29"/>
    <p:sldId id="1108" r:id="rId30"/>
    <p:sldId id="1109" r:id="rId31"/>
    <p:sldId id="1207" r:id="rId32"/>
    <p:sldId id="1208" r:id="rId33"/>
    <p:sldId id="1112" r:id="rId34"/>
    <p:sldId id="1165" r:id="rId35"/>
    <p:sldId id="1164" r:id="rId36"/>
    <p:sldId id="1115" r:id="rId37"/>
    <p:sldId id="1116" r:id="rId38"/>
    <p:sldId id="1117" r:id="rId39"/>
    <p:sldId id="1118" r:id="rId40"/>
    <p:sldId id="1119" r:id="rId41"/>
    <p:sldId id="1120" r:id="rId42"/>
    <p:sldId id="1121" r:id="rId43"/>
    <p:sldId id="1156" r:id="rId44"/>
    <p:sldId id="1157" r:id="rId45"/>
    <p:sldId id="1158" r:id="rId46"/>
    <p:sldId id="1160" r:id="rId47"/>
    <p:sldId id="1123" r:id="rId48"/>
    <p:sldId id="1124" r:id="rId49"/>
    <p:sldId id="1125" r:id="rId50"/>
    <p:sldId id="1126" r:id="rId51"/>
    <p:sldId id="1170" r:id="rId52"/>
    <p:sldId id="1127" r:id="rId53"/>
    <p:sldId id="1128" r:id="rId54"/>
    <p:sldId id="1129" r:id="rId55"/>
    <p:sldId id="1130" r:id="rId56"/>
    <p:sldId id="1131" r:id="rId57"/>
    <p:sldId id="1132" r:id="rId58"/>
    <p:sldId id="1133" r:id="rId59"/>
    <p:sldId id="1161" r:id="rId60"/>
    <p:sldId id="1135" r:id="rId61"/>
    <p:sldId id="1136" r:id="rId62"/>
    <p:sldId id="1138" r:id="rId63"/>
    <p:sldId id="1139" r:id="rId64"/>
    <p:sldId id="1166" r:id="rId65"/>
    <p:sldId id="1141" r:id="rId66"/>
    <p:sldId id="1142" r:id="rId67"/>
    <p:sldId id="1143" r:id="rId68"/>
    <p:sldId id="1144" r:id="rId69"/>
    <p:sldId id="1145" r:id="rId70"/>
    <p:sldId id="1146" r:id="rId71"/>
    <p:sldId id="1162" r:id="rId72"/>
    <p:sldId id="1086" r:id="rId73"/>
    <p:sldId id="1147" r:id="rId74"/>
    <p:sldId id="1148" r:id="rId75"/>
    <p:sldId id="1167" r:id="rId76"/>
    <p:sldId id="1168" r:id="rId77"/>
    <p:sldId id="1149" r:id="rId78"/>
    <p:sldId id="1201" r:id="rId79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3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21" autoAdjust="0"/>
    <p:restoredTop sz="94966" autoAdjust="0"/>
  </p:normalViewPr>
  <p:slideViewPr>
    <p:cSldViewPr>
      <p:cViewPr>
        <p:scale>
          <a:sx n="125" d="100"/>
          <a:sy n="125" d="100"/>
        </p:scale>
        <p:origin x="2716" y="14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9" d="100"/>
        <a:sy n="17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EC17B-16E3-FA4B-9123-14A2B07F2CAE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C31AC-9BB5-A24B-A33F-BE9E31A4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29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9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84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1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39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52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57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77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1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78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rofondimento x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Approfondimento XX:</a:t>
            </a:r>
            <a:br>
              <a:rPr lang="it-IT" dirty="0"/>
            </a:br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>
            <a:normAutofit/>
          </a:bodyPr>
          <a:lstStyle>
            <a:lvl1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2800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pPr lvl="0"/>
            <a:r>
              <a:rPr lang="it-IT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ctr" anchorCtr="0"/>
          <a:lstStyle>
            <a:lvl1pPr algn="l">
              <a:buNone/>
              <a:defRPr sz="4200" b="0"/>
            </a:lvl1pPr>
            <a:extLst/>
          </a:lstStyle>
          <a:p>
            <a:r>
              <a:rPr lang="it-IT"/>
              <a:t>Click to edit Master title style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>
            <a:normAutofit/>
          </a:bodyPr>
          <a:lstStyle>
            <a:lvl1pPr marL="0" indent="0">
              <a:spcAft>
                <a:spcPts val="1000"/>
              </a:spcAft>
              <a:buNone/>
              <a:defRPr sz="360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>
              <a:defRPr sz="12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ctr" anchorCtr="0">
            <a:normAutofit/>
          </a:bodyPr>
          <a:lstStyle/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15DE0462-10DB-4967-BC0E-85DE9094B8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32259" y="4916329"/>
            <a:ext cx="92204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 sz="10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CINI</a:t>
            </a:r>
            <a:r>
              <a:rPr lang="en-US" sz="1000" baseline="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2021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C61292C0-5F2A-41F0-A167-C19BF61AF4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54306" y="4916688"/>
            <a:ext cx="99738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>
            <a:lvl1pPr algn="r"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Rel. 11.04.2021</a:t>
            </a:r>
          </a:p>
        </p:txBody>
      </p:sp>
      <p:pic>
        <p:nvPicPr>
          <p:cNvPr id="16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A98CC357-F098-42A4-AC5F-E5C9B13D328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2400" y="4682246"/>
            <a:ext cx="1524001" cy="450359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1A43CF85-D86B-4273-B0BB-A28E6226A13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767" y="4763201"/>
            <a:ext cx="1068833" cy="3062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52" r:id="rId3"/>
    <p:sldLayoutId id="2147483653" r:id="rId4"/>
    <p:sldLayoutId id="2147483655" r:id="rId5"/>
    <p:sldLayoutId id="2147483656" r:id="rId6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rgbClr val="00009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charset="2"/>
        <a:buChar char="Ø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" charset="2"/>
        <a:buChar char="Ø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charset="2"/>
        <a:buChar char="Ø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charset="2"/>
        <a:buChar char="Ø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charset="2"/>
        <a:buChar char="Ø"/>
        <a:defRPr sz="20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trine-project.org/projects/orm.html" TargetMode="External"/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ibernate.org/orm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6934200" cy="5143500"/>
          </a:xfrm>
          <a:prstGeom prst="rect">
            <a:avLst/>
          </a:prstGeom>
          <a:gradFill rotWithShape="0">
            <a:gsLst>
              <a:gs pos="0">
                <a:srgbClr val="365E8F"/>
              </a:gs>
              <a:gs pos="100000">
                <a:srgbClr val="0F243E"/>
              </a:gs>
            </a:gsLst>
            <a:lin ang="5400000" scaled="1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663624"/>
            <a:ext cx="6934200" cy="1813126"/>
          </a:xfrm>
          <a:prstGeom prst="rect">
            <a:avLst/>
          </a:prstGeom>
          <a:gradFill flip="none" rotWithShape="1">
            <a:gsLst>
              <a:gs pos="0">
                <a:srgbClr val="365F91">
                  <a:alpha val="36000"/>
                </a:srgbClr>
              </a:gs>
              <a:gs pos="100000">
                <a:srgbClr val="0066FF">
                  <a:alpha val="6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468000" tIns="360000" rIns="360000" bIns="36000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 Neue Medium"/>
                <a:cs typeface="Helvetica Neue Medium"/>
              </a:rPr>
              <a:t>SQL injections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533400" cy="285750"/>
          </a:xfrm>
        </p:spPr>
        <p:txBody>
          <a:bodyPr>
            <a:normAutofit/>
          </a:bodyPr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A82F60-B719-4839-9466-88EA10CEC9F2}"/>
              </a:ext>
            </a:extLst>
          </p:cNvPr>
          <p:cNvSpPr txBox="1">
            <a:spLocks noChangeArrowheads="1"/>
          </p:cNvSpPr>
          <p:nvPr/>
        </p:nvSpPr>
        <p:spPr>
          <a:xfrm>
            <a:off x="6955970" y="64790"/>
            <a:ext cx="2188030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it-IT" b="1" dirty="0">
                <a:solidFill>
                  <a:srgbClr val="000099"/>
                </a:solidFill>
                <a:latin typeface="Calibri"/>
                <a:cs typeface="Calibri"/>
              </a:rPr>
              <a:t>Riccardo BONAFEDE</a:t>
            </a:r>
            <a:endParaRPr lang="it-IT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it-IT" sz="1400" dirty="0">
                <a:solidFill>
                  <a:srgbClr val="000099"/>
                </a:solidFill>
                <a:latin typeface="Calibri"/>
                <a:cs typeface="Calibri"/>
              </a:rPr>
              <a:t>Università di Padova</a:t>
            </a:r>
            <a:endParaRPr lang="it-IT" sz="140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1DD7EABF-DC0B-46D2-A175-5397CB78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05694"/>
            <a:ext cx="221057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marL="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https</a:t>
            </a:r>
            <a:r>
              <a:rPr lang="it-IT" sz="1400" i="1" dirty="0">
                <a:solidFill>
                  <a:srgbClr val="000099"/>
                </a:solidFill>
                <a:latin typeface="Helvetica Neue Medium"/>
                <a:cs typeface="Helvetica Neue Medium"/>
              </a:rPr>
              <a:t>://</a:t>
            </a:r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cybersecnatlab.it</a:t>
            </a:r>
            <a:endParaRPr lang="it-IT" sz="1400" i="1" dirty="0">
              <a:solidFill>
                <a:srgbClr val="000099"/>
              </a:solidFill>
              <a:latin typeface="Helvetica Neue Medium"/>
              <a:cs typeface="Helvetica Neue Medium"/>
            </a:endParaRPr>
          </a:p>
        </p:txBody>
      </p:sp>
      <p:pic>
        <p:nvPicPr>
          <p:cNvPr id="15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A44F66C7-1E30-405B-860E-4C6B95704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85" y="2814020"/>
            <a:ext cx="2160037" cy="63831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EF036E-DA1E-462D-8A3C-007877B10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19" y="3742606"/>
            <a:ext cx="2005733" cy="5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4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 &amp; 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400" dirty="0"/>
              <a:t>This presentation is licensed under the </a:t>
            </a:r>
            <a:br>
              <a:rPr lang="en-US" sz="1400" dirty="0"/>
            </a:br>
            <a:r>
              <a:rPr lang="en-US" sz="1400" dirty="0"/>
              <a:t>Creative Commons </a:t>
            </a:r>
            <a:r>
              <a:rPr lang="it-IT" sz="1400" dirty="0"/>
              <a:t>BY-NC </a:t>
            </a:r>
            <a:r>
              <a:rPr lang="en-US" sz="1400" dirty="0"/>
              <a:t>License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To view a copy of the license, visit:</a:t>
            </a:r>
          </a:p>
          <a:p>
            <a:pPr marL="0" indent="0" algn="ctr">
              <a:buNone/>
            </a:pPr>
            <a:r>
              <a:rPr lang="it-IT" sz="1200" dirty="0"/>
              <a:t>http://creativecommons.org/licenses/by-nc/3.0/legalcode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We disclaim any warranties or representations as to the accuracy or completeness of this material.</a:t>
            </a:r>
          </a:p>
          <a:p>
            <a:r>
              <a:rPr lang="en-US" sz="1400" dirty="0"/>
              <a:t>Materials are provided “as is” without warranty of any kind, either express or implied, including without limitation, warranties of merchantability, fitness for a particular purpose, and non-infringement. </a:t>
            </a:r>
          </a:p>
          <a:p>
            <a:r>
              <a:rPr lang="en-US" sz="1400" dirty="0"/>
              <a:t>Under no circumstances shall we be liable for any loss, damage, liability or expense incurred or suffered which is claimed to have resulted from use of this material.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License Information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pic>
        <p:nvPicPr>
          <p:cNvPr id="8" name="Immagine 6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2647950"/>
            <a:ext cx="3286126" cy="1143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4397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C07804-0969-0542-AEDF-8E891213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Goal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FACB6-71E4-4049-945C-0A658AC3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A54CEF-CF3D-EE44-BE2A-C70040B10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 Learn how to exploit common SQL injections</a:t>
            </a:r>
          </a:p>
          <a:p>
            <a:r>
              <a:rPr lang="en-GB" sz="2400" dirty="0"/>
              <a:t> Learn how to fix common SQL injection</a:t>
            </a:r>
          </a:p>
          <a:p>
            <a:endParaRPr lang="it-IT" sz="2400" dirty="0"/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0440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C07804-0969-0542-AEDF-8E891213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Prerequisites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FACB6-71E4-4049-945C-0A658AC3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A54CEF-CF3D-EE44-BE2A-C70040B10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Lecture:</a:t>
            </a:r>
          </a:p>
          <a:p>
            <a:pPr lvl="1"/>
            <a:r>
              <a:rPr lang="en-GB" i="1" dirty="0">
                <a:solidFill>
                  <a:srgbClr val="0070C0"/>
                </a:solidFill>
              </a:rPr>
              <a:t>WS_1.1 - HTTP Protocol and Web-Security Overview</a:t>
            </a:r>
          </a:p>
          <a:p>
            <a:r>
              <a:rPr lang="en-US" dirty="0"/>
              <a:t>Basic knowledge about SQL</a:t>
            </a:r>
          </a:p>
        </p:txBody>
      </p:sp>
    </p:spTree>
    <p:extLst>
      <p:ext uri="{BB962C8B-B14F-4D97-AF65-F5344CB8AC3E}">
        <p14:creationId xmlns:p14="http://schemas.microsoft.com/office/powerpoint/2010/main" val="369980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48600" cy="3268624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Overview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A simple case: Login Bypass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Union-Based SQL Injections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Retrieving The Database Structure: </a:t>
            </a:r>
            <a:r>
              <a:rPr lang="en-US" i="1" dirty="0" err="1">
                <a:latin typeface="Calibri"/>
                <a:cs typeface="Calibri"/>
              </a:rPr>
              <a:t>infomation_schema</a:t>
            </a:r>
            <a:endParaRPr lang="en-US" i="1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Blind SQL Injections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Preventing SQL Injections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2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48600" cy="3268624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Overview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A simple case: Login Bypass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Union-Based SQL Injections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Retrieving The Database Structure: </a:t>
            </a:r>
            <a:r>
              <a:rPr lang="en-US" i="1" dirty="0" err="1">
                <a:latin typeface="Calibri"/>
                <a:cs typeface="Calibri"/>
              </a:rPr>
              <a:t>infomation_schema</a:t>
            </a:r>
            <a:endParaRPr lang="en-US" i="1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Blind SQL Injections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Preventing SQL Injections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25583D-0DAB-42F7-BD5E-8B2ED2D92CA3}"/>
              </a:ext>
            </a:extLst>
          </p:cNvPr>
          <p:cNvSpPr/>
          <p:nvPr/>
        </p:nvSpPr>
        <p:spPr>
          <a:xfrm>
            <a:off x="685800" y="2400300"/>
            <a:ext cx="7992835" cy="197575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5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792F-1165-4A3E-A2ED-F33DA2D9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Overview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37657-34F7-41BE-A9FA-278B63C6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37135-94E8-4FDD-95D5-5FF13D1258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Almost every web application saves data in some sort of database</a:t>
            </a:r>
          </a:p>
          <a:p>
            <a:r>
              <a:rPr lang="en-US" dirty="0">
                <a:latin typeface="Calibri"/>
                <a:cs typeface="Calibri"/>
              </a:rPr>
              <a:t>Most web applications use relational databases</a:t>
            </a:r>
            <a:endParaRPr lang="en-US" dirty="0"/>
          </a:p>
        </p:txBody>
      </p:sp>
      <p:pic>
        <p:nvPicPr>
          <p:cNvPr id="7" name="Graphic 7" descr="Database">
            <a:extLst>
              <a:ext uri="{FF2B5EF4-FFF2-40B4-BE49-F238E27FC236}">
                <a16:creationId xmlns:a16="http://schemas.microsoft.com/office/drawing/2014/main" id="{D9E703AB-33C4-4B7B-9965-5013C881E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7464" y="3429000"/>
            <a:ext cx="914400" cy="914400"/>
          </a:xfrm>
          <a:prstGeom prst="rect">
            <a:avLst/>
          </a:prstGeom>
        </p:spPr>
      </p:pic>
      <p:pic>
        <p:nvPicPr>
          <p:cNvPr id="11" name="Graphic 11" descr="Computer">
            <a:extLst>
              <a:ext uri="{FF2B5EF4-FFF2-40B4-BE49-F238E27FC236}">
                <a16:creationId xmlns:a16="http://schemas.microsoft.com/office/drawing/2014/main" id="{F7FDE8E5-1572-42A2-A060-C1A481F2A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8086" y="3461657"/>
            <a:ext cx="914400" cy="914400"/>
          </a:xfrm>
          <a:prstGeom prst="rect">
            <a:avLst/>
          </a:prstGeom>
        </p:spPr>
      </p:pic>
      <p:pic>
        <p:nvPicPr>
          <p:cNvPr id="13" name="Graphic 13" descr="User">
            <a:extLst>
              <a:ext uri="{FF2B5EF4-FFF2-40B4-BE49-F238E27FC236}">
                <a16:creationId xmlns:a16="http://schemas.microsoft.com/office/drawing/2014/main" id="{DF7B2AF3-D5A1-4A19-B5F4-D9D6957EF2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8707" y="3429000"/>
            <a:ext cx="914400" cy="9144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CB8C8C-EC26-4D1D-8C09-15EA2A68ACE7}"/>
              </a:ext>
            </a:extLst>
          </p:cNvPr>
          <p:cNvCxnSpPr/>
          <p:nvPr/>
        </p:nvCxnSpPr>
        <p:spPr>
          <a:xfrm>
            <a:off x="3510297" y="3886199"/>
            <a:ext cx="71029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E2F058-F5BE-4BEF-B268-1A641A0A58EC}"/>
              </a:ext>
            </a:extLst>
          </p:cNvPr>
          <p:cNvCxnSpPr>
            <a:cxnSpLocks/>
          </p:cNvCxnSpPr>
          <p:nvPr/>
        </p:nvCxnSpPr>
        <p:spPr>
          <a:xfrm>
            <a:off x="5249290" y="3886199"/>
            <a:ext cx="71029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95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792F-1165-4A3E-A2ED-F33DA2D9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Overview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37657-34F7-41BE-A9FA-278B63C6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37135-94E8-4FDD-95D5-5FF13D1258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SQL Injections attacks are similar to code injections</a:t>
            </a:r>
          </a:p>
          <a:p>
            <a:r>
              <a:rPr lang="en-US" dirty="0">
                <a:latin typeface="Calibri"/>
                <a:cs typeface="Calibri"/>
              </a:rPr>
              <a:t>The issue arises when untrusted data make their way to the database</a:t>
            </a:r>
          </a:p>
          <a:p>
            <a:r>
              <a:rPr lang="en-US" dirty="0">
                <a:latin typeface="Calibri"/>
                <a:cs typeface="Calibri"/>
              </a:rPr>
              <a:t>In this case, an attacker can execute his/her query on the database</a:t>
            </a:r>
            <a:endParaRPr lang="en-US" dirty="0"/>
          </a:p>
        </p:txBody>
      </p:sp>
      <p:pic>
        <p:nvPicPr>
          <p:cNvPr id="7" name="Graphic 7" descr="Database">
            <a:extLst>
              <a:ext uri="{FF2B5EF4-FFF2-40B4-BE49-F238E27FC236}">
                <a16:creationId xmlns:a16="http://schemas.microsoft.com/office/drawing/2014/main" id="{D9E703AB-33C4-4B7B-9965-5013C881E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3943350"/>
            <a:ext cx="914400" cy="914400"/>
          </a:xfrm>
          <a:prstGeom prst="rect">
            <a:avLst/>
          </a:prstGeom>
        </p:spPr>
      </p:pic>
      <p:pic>
        <p:nvPicPr>
          <p:cNvPr id="11" name="Graphic 11" descr="Computer">
            <a:extLst>
              <a:ext uri="{FF2B5EF4-FFF2-40B4-BE49-F238E27FC236}">
                <a16:creationId xmlns:a16="http://schemas.microsoft.com/office/drawing/2014/main" id="{F7FDE8E5-1572-42A2-A060-C1A481F2A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2015" y="3902528"/>
            <a:ext cx="914400" cy="9144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CB8C8C-EC26-4D1D-8C09-15EA2A68ACE7}"/>
              </a:ext>
            </a:extLst>
          </p:cNvPr>
          <p:cNvCxnSpPr/>
          <p:nvPr/>
        </p:nvCxnSpPr>
        <p:spPr>
          <a:xfrm>
            <a:off x="3366062" y="4359727"/>
            <a:ext cx="71029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E2F058-F5BE-4BEF-B268-1A641A0A58EC}"/>
              </a:ext>
            </a:extLst>
          </p:cNvPr>
          <p:cNvCxnSpPr>
            <a:cxnSpLocks/>
          </p:cNvCxnSpPr>
          <p:nvPr/>
        </p:nvCxnSpPr>
        <p:spPr>
          <a:xfrm>
            <a:off x="5121384" y="4400549"/>
            <a:ext cx="71029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5" descr="Devil face with solid fill">
            <a:extLst>
              <a:ext uri="{FF2B5EF4-FFF2-40B4-BE49-F238E27FC236}">
                <a16:creationId xmlns:a16="http://schemas.microsoft.com/office/drawing/2014/main" id="{D7B1662E-9A54-464E-A910-7D96B450D1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52008" y="3943349"/>
            <a:ext cx="914400" cy="9144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413762-BAC5-4D8E-9BE3-14E06409367A}"/>
              </a:ext>
            </a:extLst>
          </p:cNvPr>
          <p:cNvCxnSpPr/>
          <p:nvPr/>
        </p:nvCxnSpPr>
        <p:spPr>
          <a:xfrm flipV="1">
            <a:off x="3445401" y="3940989"/>
            <a:ext cx="23104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89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D323-8C74-4258-81AA-7DA1B314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57F47-266D-41CB-B317-A9617A5B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A097-5779-4423-A1F8-95C604C2C3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simplest case of an SQL Injection is the following  </a:t>
            </a:r>
            <a:r>
              <a:rPr lang="en-US" i="1" dirty="0">
                <a:latin typeface="Calibri"/>
                <a:cs typeface="Calibri"/>
              </a:rPr>
              <a:t>Login Bypass</a:t>
            </a:r>
            <a:r>
              <a:rPr lang="en-US" dirty="0">
                <a:latin typeface="Calibri"/>
                <a:cs typeface="Calibri"/>
              </a:rPr>
              <a:t> example 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sz="1800" dirty="0">
              <a:latin typeface="Consolas"/>
              <a:cs typeface="Calibri"/>
            </a:endParaRPr>
          </a:p>
        </p:txBody>
      </p:sp>
      <p:pic>
        <p:nvPicPr>
          <p:cNvPr id="8" name="Segnaposto contenuto 7" descr="$userQuery = mysqli_query(&quot;SELECT * FROM users &#10; WHERE email = '&quot;  . $_POST['email']   . &quot;'&#10;    AND password = '&quot;  . $_POST['password']  . &quot;'&quot;&#10;);">
            <a:extLst>
              <a:ext uri="{FF2B5EF4-FFF2-40B4-BE49-F238E27FC236}">
                <a16:creationId xmlns:a16="http://schemas.microsoft.com/office/drawing/2014/main" id="{BB91B1D0-747A-43CD-BCE1-DA866E1A23B0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24150"/>
            <a:ext cx="5432425" cy="1657350"/>
          </a:xfrm>
        </p:spPr>
      </p:pic>
    </p:spTree>
    <p:extLst>
      <p:ext uri="{BB962C8B-B14F-4D97-AF65-F5344CB8AC3E}">
        <p14:creationId xmlns:p14="http://schemas.microsoft.com/office/powerpoint/2010/main" val="224516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D323-8C74-4258-81AA-7DA1B314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57F47-266D-41CB-B317-A9617A5B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A097-5779-4423-A1F8-95C604C2C3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simplest case of a SQL Injection is the following  </a:t>
            </a:r>
            <a:r>
              <a:rPr lang="en-US" i="1" dirty="0">
                <a:latin typeface="Calibri"/>
                <a:cs typeface="Calibri"/>
              </a:rPr>
              <a:t>Login Bypass</a:t>
            </a:r>
            <a:r>
              <a:rPr lang="en-US" dirty="0">
                <a:latin typeface="Calibri"/>
                <a:cs typeface="Calibri"/>
              </a:rPr>
              <a:t> example 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sz="1800" dirty="0">
              <a:latin typeface="Consolas"/>
              <a:cs typeface="Calibri"/>
            </a:endParaRPr>
          </a:p>
        </p:txBody>
      </p:sp>
      <p:pic>
        <p:nvPicPr>
          <p:cNvPr id="8" name="Segnaposto contenuto 7" descr="$userQuery = mysqli_query(&quot;SELECT * FROM users &#10; WHERE email = '&quot;  . $_POST['email']   . &quot;'&#10;    AND password = '&quot;  . $_POST['password']  . &quot;'&quot;&#10;);">
            <a:extLst>
              <a:ext uri="{FF2B5EF4-FFF2-40B4-BE49-F238E27FC236}">
                <a16:creationId xmlns:a16="http://schemas.microsoft.com/office/drawing/2014/main" id="{BB91B1D0-747A-43CD-BCE1-DA866E1A23B0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24150"/>
            <a:ext cx="5432425" cy="16573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F47C61-845F-4CD3-906A-D13595AD735A}"/>
              </a:ext>
            </a:extLst>
          </p:cNvPr>
          <p:cNvSpPr txBox="1"/>
          <p:nvPr/>
        </p:nvSpPr>
        <p:spPr>
          <a:xfrm>
            <a:off x="7340387" y="2571750"/>
            <a:ext cx="16512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User Input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53341E7-CBC8-459C-9B8B-078A1B7D8750}"/>
              </a:ext>
            </a:extLst>
          </p:cNvPr>
          <p:cNvSpPr/>
          <p:nvPr/>
        </p:nvSpPr>
        <p:spPr>
          <a:xfrm>
            <a:off x="4495800" y="3486150"/>
            <a:ext cx="1752600" cy="4572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921375AE-6E0E-4CFB-AAD7-2D33D1F6475E}"/>
              </a:ext>
            </a:extLst>
          </p:cNvPr>
          <p:cNvSpPr/>
          <p:nvPr/>
        </p:nvSpPr>
        <p:spPr>
          <a:xfrm rot="8498090">
            <a:off x="6189030" y="3203108"/>
            <a:ext cx="1352460" cy="238125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3669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8D57-D4DB-44C7-8FB2-8ADEBFBD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FC8C2-D21D-46C4-8929-BF552542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21242-0F9C-4124-B74E-149AE7E949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SQL query is dynamically generated to contain some inputs from the user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The code will then decide if the user has provided valid credentials based on the response of the query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20C11-558F-40C8-928F-31D09D28FE7D}"/>
              </a:ext>
            </a:extLst>
          </p:cNvPr>
          <p:cNvSpPr txBox="1"/>
          <p:nvPr/>
        </p:nvSpPr>
        <p:spPr>
          <a:xfrm>
            <a:off x="1359354" y="2495550"/>
            <a:ext cx="66538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* FROM users WHERE email = '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admin@site.com</a:t>
            </a:r>
            <a:r>
              <a:rPr lang="en-US" dirty="0">
                <a:latin typeface="Consolas"/>
              </a:rPr>
              <a:t>' and password = '</a:t>
            </a:r>
            <a:r>
              <a:rPr lang="en-US" dirty="0" err="1">
                <a:solidFill>
                  <a:schemeClr val="accent2"/>
                </a:solidFill>
                <a:latin typeface="Consolas"/>
              </a:rPr>
              <a:t>foobar</a:t>
            </a:r>
            <a:r>
              <a:rPr lang="en-US" dirty="0">
                <a:latin typeface="Consolas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7259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8D57-D4DB-44C7-8FB2-8ADEBFBD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FC8C2-D21D-46C4-8929-BF552542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21242-0F9C-4124-B74E-149AE7E949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Similarly to code injections, if the input is not properly handled an attacker can inject SQL code inside the query</a:t>
            </a:r>
          </a:p>
          <a:p>
            <a:r>
              <a:rPr lang="en-US" dirty="0">
                <a:latin typeface="Calibri"/>
                <a:cs typeface="Calibri"/>
              </a:rPr>
              <a:t>For example, for </a:t>
            </a:r>
            <a:r>
              <a:rPr lang="en-US" sz="2400" b="1" i="1" dirty="0">
                <a:latin typeface="Calibri"/>
                <a:cs typeface="Calibri"/>
              </a:rPr>
              <a:t>$_POST['email'] = " </a:t>
            </a:r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' or 1=1 -- </a:t>
            </a:r>
            <a:r>
              <a:rPr lang="en-US" sz="2400" b="1" i="1" dirty="0">
                <a:latin typeface="Calibri"/>
                <a:cs typeface="Calibri"/>
              </a:rPr>
              <a:t>"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 query becomes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6974A-A960-4E7A-A78A-3C361A37B6D2}"/>
              </a:ext>
            </a:extLst>
          </p:cNvPr>
          <p:cNvSpPr txBox="1"/>
          <p:nvPr/>
        </p:nvSpPr>
        <p:spPr>
          <a:xfrm>
            <a:off x="443596" y="4019993"/>
            <a:ext cx="86242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  <a:ea typeface="+mn-lt"/>
                <a:cs typeface="+mn-lt"/>
              </a:rPr>
              <a:t>SELECT * FROM users WHERE email = </a:t>
            </a:r>
            <a:r>
              <a:rPr lang="en-US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' or 1=1 -- </a:t>
            </a:r>
            <a:r>
              <a:rPr lang="en-US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dirty="0">
                <a:latin typeface="Consolas"/>
                <a:ea typeface="+mn-lt"/>
                <a:cs typeface="+mn-lt"/>
              </a:rPr>
              <a:t> and password = ''</a:t>
            </a:r>
            <a:endParaRPr lang="en-US" dirty="0">
              <a:latin typeface="Consolas"/>
            </a:endParaRPr>
          </a:p>
        </p:txBody>
      </p:sp>
      <p:pic>
        <p:nvPicPr>
          <p:cNvPr id="7" name="Graphic 7" descr="Needle">
            <a:extLst>
              <a:ext uri="{FF2B5EF4-FFF2-40B4-BE49-F238E27FC236}">
                <a16:creationId xmlns:a16="http://schemas.microsoft.com/office/drawing/2014/main" id="{FC011CA0-688E-4EBA-B2D6-06275BDF7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386" y="3429000"/>
            <a:ext cx="595993" cy="59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8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003B-7CF7-46D9-A4D0-D04CF938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DF3EA-E5F3-45AA-8D20-C3284F86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73F82-A705-4792-BDFA-4491CB9982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database cannot discriminate between user input and actual code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0A1B4-4C14-4CC4-A0FA-A7E2ECFB49BF}"/>
              </a:ext>
            </a:extLst>
          </p:cNvPr>
          <p:cNvSpPr txBox="1"/>
          <p:nvPr/>
        </p:nvSpPr>
        <p:spPr>
          <a:xfrm>
            <a:off x="808266" y="3053442"/>
            <a:ext cx="790302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solas"/>
                <a:ea typeface="+mn-lt"/>
                <a:cs typeface="+mn-lt"/>
              </a:rPr>
              <a:t>SELECT * FROM users WHERE email = ''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or 1=1</a:t>
            </a:r>
            <a:r>
              <a:rPr lang="en-US" sz="1600" dirty="0">
                <a:latin typeface="Consolas"/>
                <a:ea typeface="+mn-lt"/>
                <a:cs typeface="+mn-lt"/>
              </a:rPr>
              <a:t> --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600" strike="sngStrike" dirty="0">
                <a:solidFill>
                  <a:srgbClr val="00B050"/>
                </a:solidFill>
                <a:latin typeface="Consolas"/>
                <a:ea typeface="+mn-lt"/>
                <a:cs typeface="+mn-lt"/>
              </a:rPr>
              <a:t>'  and password = ''</a:t>
            </a:r>
          </a:p>
          <a:p>
            <a:pPr algn="l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EFE715-35B0-4092-8455-7FF02AB737B3}"/>
              </a:ext>
            </a:extLst>
          </p:cNvPr>
          <p:cNvCxnSpPr/>
          <p:nvPr/>
        </p:nvCxnSpPr>
        <p:spPr>
          <a:xfrm flipH="1" flipV="1">
            <a:off x="5974217" y="3323429"/>
            <a:ext cx="653142" cy="832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5B3DED-EA31-4423-994C-BF897FB8D927}"/>
              </a:ext>
            </a:extLst>
          </p:cNvPr>
          <p:cNvCxnSpPr/>
          <p:nvPr/>
        </p:nvCxnSpPr>
        <p:spPr>
          <a:xfrm flipV="1">
            <a:off x="4575267" y="3323429"/>
            <a:ext cx="742950" cy="742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4BE3E2-20DF-400F-AD58-0F03EDB48078}"/>
              </a:ext>
            </a:extLst>
          </p:cNvPr>
          <p:cNvSpPr txBox="1"/>
          <p:nvPr/>
        </p:nvSpPr>
        <p:spPr>
          <a:xfrm>
            <a:off x="3277961" y="387395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Always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670CD-21FB-49A2-97A9-DD0A1487DEC3}"/>
              </a:ext>
            </a:extLst>
          </p:cNvPr>
          <p:cNvSpPr txBox="1"/>
          <p:nvPr/>
        </p:nvSpPr>
        <p:spPr>
          <a:xfrm>
            <a:off x="6639292" y="3897595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A comment. Everything after will be ignored</a:t>
            </a:r>
          </a:p>
        </p:txBody>
      </p:sp>
    </p:spTree>
    <p:extLst>
      <p:ext uri="{BB962C8B-B14F-4D97-AF65-F5344CB8AC3E}">
        <p14:creationId xmlns:p14="http://schemas.microsoft.com/office/powerpoint/2010/main" val="1138768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8895-52BB-4608-970B-9F262232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E67B2-7C25-4FAB-BF69-7BFFC9F1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851EF-5562-4C66-B1A4-13015CECA1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This injection effectively leads to a change in the application's </a:t>
            </a:r>
            <a:r>
              <a:rPr lang="en-US" b="1" dirty="0">
                <a:latin typeface="Calibri"/>
                <a:cs typeface="Calibri"/>
              </a:rPr>
              <a:t>logic flow</a:t>
            </a:r>
          </a:p>
          <a:p>
            <a:r>
              <a:rPr lang="en-US" dirty="0">
                <a:latin typeface="Calibri"/>
                <a:cs typeface="Calibri"/>
              </a:rPr>
              <a:t>Since the attacker can inject a logic condition that makes the query return </a:t>
            </a:r>
            <a:r>
              <a:rPr lang="en-US" b="1" dirty="0">
                <a:latin typeface="Calibri"/>
                <a:cs typeface="Calibri"/>
              </a:rPr>
              <a:t>every time</a:t>
            </a:r>
            <a:r>
              <a:rPr lang="en-US" dirty="0">
                <a:latin typeface="Calibri"/>
                <a:cs typeface="Calibri"/>
              </a:rPr>
              <a:t> a result, he/she can </a:t>
            </a:r>
            <a:r>
              <a:rPr lang="en-US" i="1" dirty="0">
                <a:latin typeface="Calibri"/>
                <a:cs typeface="Calibri"/>
              </a:rPr>
              <a:t>bypass the login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3943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8895-52BB-4608-970B-9F262232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Case: Login Bypass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E67B2-7C25-4FAB-BF69-7BFFC9F1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851EF-5562-4C66-B1A4-13015CECA1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Finding SQL Injections is very similar to finding code injection</a:t>
            </a:r>
          </a:p>
          <a:p>
            <a:r>
              <a:rPr lang="en-US" dirty="0">
                <a:latin typeface="Calibri"/>
                <a:cs typeface="Calibri"/>
              </a:rPr>
              <a:t>The go-to way is to try special characters that in SQL are:</a:t>
            </a:r>
          </a:p>
          <a:p>
            <a:pPr lvl="1"/>
            <a:r>
              <a:rPr lang="en-US" dirty="0">
                <a:latin typeface="Consolas"/>
                <a:cs typeface="Calibri"/>
              </a:rPr>
              <a:t>' </a:t>
            </a:r>
            <a:endParaRPr lang="en-US" dirty="0"/>
          </a:p>
          <a:p>
            <a:pPr lvl="1"/>
            <a:r>
              <a:rPr lang="en-US" dirty="0">
                <a:latin typeface="Consolas"/>
                <a:cs typeface="Calibri"/>
              </a:rPr>
              <a:t>\ </a:t>
            </a:r>
            <a:endParaRPr lang="en-US" dirty="0"/>
          </a:p>
          <a:p>
            <a:pPr lvl="1"/>
            <a:r>
              <a:rPr lang="en-US" dirty="0">
                <a:latin typeface="Consolas"/>
                <a:cs typeface="Calibri"/>
              </a:rPr>
              <a:t>"</a:t>
            </a:r>
            <a:endParaRPr lang="en-US" dirty="0"/>
          </a:p>
          <a:p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786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48600" cy="3268624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Overview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A simple case: Login Bypass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Union-Based SQL Injections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Retrieving The Database Structure: </a:t>
            </a:r>
            <a:r>
              <a:rPr lang="en-US" i="1" dirty="0" err="1">
                <a:latin typeface="Calibri"/>
                <a:cs typeface="Calibri"/>
              </a:rPr>
              <a:t>infomation_schema</a:t>
            </a:r>
            <a:endParaRPr lang="en-US" i="1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Blind SQL Injections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Preventing SQL Injections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25583D-0DAB-42F7-BD5E-8B2ED2D92CA3}"/>
              </a:ext>
            </a:extLst>
          </p:cNvPr>
          <p:cNvSpPr/>
          <p:nvPr/>
        </p:nvSpPr>
        <p:spPr>
          <a:xfrm>
            <a:off x="685800" y="3331028"/>
            <a:ext cx="7992835" cy="1045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47154-D8ED-4EB9-8588-A505FA399254}"/>
              </a:ext>
            </a:extLst>
          </p:cNvPr>
          <p:cNvSpPr/>
          <p:nvPr/>
        </p:nvSpPr>
        <p:spPr>
          <a:xfrm>
            <a:off x="579664" y="1355271"/>
            <a:ext cx="7992835" cy="1045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88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Other to change an application’s logic flow, an attacker may be interested in </a:t>
            </a:r>
            <a:r>
              <a:rPr lang="en-US" b="1" dirty="0">
                <a:latin typeface="Calibri"/>
                <a:cs typeface="Calibri"/>
              </a:rPr>
              <a:t>stealing </a:t>
            </a:r>
            <a:r>
              <a:rPr lang="en-US" dirty="0">
                <a:latin typeface="Calibri"/>
                <a:cs typeface="Calibri"/>
              </a:rPr>
              <a:t>pieces of information from the database</a:t>
            </a:r>
          </a:p>
          <a:p>
            <a:r>
              <a:rPr lang="en-US" dirty="0">
                <a:latin typeface="Calibri"/>
                <a:cs typeface="Calibri"/>
              </a:rPr>
              <a:t>Depending on where it is possible to inject, there are different techniques to do so</a:t>
            </a:r>
          </a:p>
        </p:txBody>
      </p:sp>
    </p:spTree>
    <p:extLst>
      <p:ext uri="{BB962C8B-B14F-4D97-AF65-F5344CB8AC3E}">
        <p14:creationId xmlns:p14="http://schemas.microsoft.com/office/powerpoint/2010/main" val="974740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simplest case happens when the injection is inside a query whose result is </a:t>
            </a:r>
            <a:r>
              <a:rPr lang="en-US" b="1" dirty="0">
                <a:latin typeface="Calibri"/>
                <a:cs typeface="Calibri"/>
              </a:rPr>
              <a:t>showed back inside the response page</a:t>
            </a:r>
          </a:p>
          <a:p>
            <a:r>
              <a:rPr lang="en-US" dirty="0">
                <a:latin typeface="Calibri"/>
                <a:cs typeface="Calibri"/>
              </a:rPr>
              <a:t>In this case, an attacker can have the query returning the information that he/she wants, and then read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94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These types of SQL Injection are called </a:t>
            </a:r>
            <a:r>
              <a:rPr lang="en-US" b="1" dirty="0">
                <a:latin typeface="Calibri"/>
                <a:cs typeface="Calibri"/>
              </a:rPr>
              <a:t>Union-Based SQL injections</a:t>
            </a:r>
            <a:r>
              <a:rPr lang="en-US" dirty="0">
                <a:latin typeface="Calibri"/>
                <a:cs typeface="Calibri"/>
              </a:rPr>
              <a:t>, because they make use of the </a:t>
            </a:r>
            <a:r>
              <a:rPr lang="en-US" i="1" dirty="0">
                <a:latin typeface="Calibri"/>
                <a:cs typeface="Calibri"/>
              </a:rPr>
              <a:t>UNION</a:t>
            </a:r>
            <a:r>
              <a:rPr lang="en-US" b="1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statement</a:t>
            </a:r>
          </a:p>
          <a:p>
            <a:r>
              <a:rPr lang="en-US" dirty="0">
                <a:latin typeface="Calibri"/>
                <a:cs typeface="Calibri"/>
              </a:rPr>
              <a:t>The UNION combines the result of </a:t>
            </a:r>
            <a:r>
              <a:rPr lang="en-US" b="1" dirty="0">
                <a:latin typeface="Calibri"/>
                <a:cs typeface="Calibri"/>
              </a:rPr>
              <a:t>two or more</a:t>
            </a:r>
            <a:r>
              <a:rPr lang="en-US" dirty="0">
                <a:latin typeface="Calibri"/>
                <a:cs typeface="Calibri"/>
              </a:rPr>
              <a:t> SELECT queries into </a:t>
            </a:r>
            <a:r>
              <a:rPr lang="en-US" b="1" dirty="0">
                <a:latin typeface="Calibri"/>
                <a:cs typeface="Calibri"/>
              </a:rPr>
              <a:t>one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6344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This query returns all the results from the first </a:t>
            </a:r>
            <a:r>
              <a:rPr lang="en-US" i="1" dirty="0">
                <a:latin typeface="Calibri"/>
                <a:cs typeface="Calibri"/>
              </a:rPr>
              <a:t>select</a:t>
            </a:r>
            <a:r>
              <a:rPr lang="en-US" dirty="0">
                <a:latin typeface="Calibri"/>
                <a:cs typeface="Calibri"/>
              </a:rPr>
              <a:t> and all the results of the second </a:t>
            </a:r>
            <a:r>
              <a:rPr lang="en-US" i="1" dirty="0">
                <a:latin typeface="Calibri"/>
                <a:cs typeface="Calibri"/>
              </a:rPr>
              <a:t>select</a:t>
            </a:r>
            <a:r>
              <a:rPr lang="en-US" dirty="0">
                <a:latin typeface="Calibri"/>
                <a:cs typeface="Calibri"/>
              </a:rPr>
              <a:t> query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Immagine 6" descr="SELECT column_1,column_2 FROM table1&#10;  UNION&#10;SELECT column_3,column_4 FROM table2; &#10;">
            <a:extLst>
              <a:ext uri="{FF2B5EF4-FFF2-40B4-BE49-F238E27FC236}">
                <a16:creationId xmlns:a16="http://schemas.microsoft.com/office/drawing/2014/main" id="{7A2BB24C-AEEB-43D9-AA14-0A4BF4DE8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40" y="2495550"/>
            <a:ext cx="4856720" cy="200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3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D387D-9CA8-4407-9FDC-34DD4FD01BB4}"/>
              </a:ext>
            </a:extLst>
          </p:cNvPr>
          <p:cNvSpPr txBox="1"/>
          <p:nvPr/>
        </p:nvSpPr>
        <p:spPr>
          <a:xfrm>
            <a:off x="3175907" y="1420586"/>
            <a:ext cx="37392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onsolas"/>
                <a:ea typeface="+mn-lt"/>
                <a:cs typeface="+mn-lt"/>
              </a:rPr>
              <a:t>SELECT column_1,column_2 FROM </a:t>
            </a:r>
            <a:r>
              <a:rPr lang="en-US" sz="1400" i="1" dirty="0">
                <a:latin typeface="Consolas"/>
                <a:ea typeface="+mn-lt"/>
                <a:cs typeface="+mn-lt"/>
              </a:rPr>
              <a:t>table1</a:t>
            </a:r>
            <a:br>
              <a:rPr lang="en-US" sz="1400" i="1" dirty="0">
                <a:latin typeface="Consolas"/>
                <a:ea typeface="+mn-lt"/>
                <a:cs typeface="+mn-lt"/>
              </a:rPr>
            </a:br>
            <a:endParaRPr lang="en-US" sz="1400" i="1" dirty="0">
              <a:latin typeface="Consolas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D92438-251A-437B-8968-3F43FE639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96133"/>
              </p:ext>
            </p:extLst>
          </p:nvPr>
        </p:nvGraphicFramePr>
        <p:xfrm>
          <a:off x="338001" y="1506147"/>
          <a:ext cx="2826474" cy="1112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237">
                  <a:extLst>
                    <a:ext uri="{9D8B030D-6E8A-4147-A177-3AD203B41FA5}">
                      <a16:colId xmlns:a16="http://schemas.microsoft.com/office/drawing/2014/main" val="1800762571"/>
                    </a:ext>
                  </a:extLst>
                </a:gridCol>
                <a:gridCol w="1413237">
                  <a:extLst>
                    <a:ext uri="{9D8B030D-6E8A-4147-A177-3AD203B41FA5}">
                      <a16:colId xmlns:a16="http://schemas.microsoft.com/office/drawing/2014/main" val="1600042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column_2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7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1213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Fecit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5340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1A14180-B4A9-4E45-A25A-84C1EC89B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193686"/>
              </p:ext>
            </p:extLst>
          </p:nvPr>
        </p:nvGraphicFramePr>
        <p:xfrm>
          <a:off x="351064" y="2988128"/>
          <a:ext cx="2801980" cy="1674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990">
                  <a:extLst>
                    <a:ext uri="{9D8B030D-6E8A-4147-A177-3AD203B41FA5}">
                      <a16:colId xmlns:a16="http://schemas.microsoft.com/office/drawing/2014/main" val="1215199645"/>
                    </a:ext>
                  </a:extLst>
                </a:gridCol>
                <a:gridCol w="1400990">
                  <a:extLst>
                    <a:ext uri="{9D8B030D-6E8A-4147-A177-3AD203B41FA5}">
                      <a16:colId xmlns:a16="http://schemas.microsoft.com/office/drawing/2014/main" val="712279573"/>
                    </a:ext>
                  </a:extLst>
                </a:gridCol>
              </a:tblGrid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column_3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column_4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05223"/>
                  </a:ext>
                </a:extLst>
              </a:tr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A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337882"/>
                  </a:ext>
                </a:extLst>
              </a:tr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Another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90033"/>
                  </a:ext>
                </a:extLst>
              </a:tr>
              <a:tr h="506375">
                <a:tc>
                  <a:txBody>
                    <a:bodyPr/>
                    <a:lstStyle/>
                    <a:p>
                      <a:r>
                        <a:rPr lang="en-US" dirty="0"/>
                        <a:t>Other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123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BE8C0A-7247-43A0-BD1E-F5F67B745258}"/>
              </a:ext>
            </a:extLst>
          </p:cNvPr>
          <p:cNvCxnSpPr/>
          <p:nvPr/>
        </p:nvCxnSpPr>
        <p:spPr>
          <a:xfrm>
            <a:off x="3175907" y="191860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3D73A-6CEC-4551-A6E4-8B7D5CA53263}"/>
              </a:ext>
            </a:extLst>
          </p:cNvPr>
          <p:cNvCxnSpPr/>
          <p:nvPr/>
        </p:nvCxnSpPr>
        <p:spPr>
          <a:xfrm flipV="1">
            <a:off x="3196318" y="3408591"/>
            <a:ext cx="898071" cy="612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AF64FE-3C54-47D5-9B6E-493D4D41AC0F}"/>
              </a:ext>
            </a:extLst>
          </p:cNvPr>
          <p:cNvSpPr txBox="1"/>
          <p:nvPr/>
        </p:nvSpPr>
        <p:spPr>
          <a:xfrm>
            <a:off x="3976007" y="2939143"/>
            <a:ext cx="8980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Consolas"/>
              </a:rPr>
              <a:t>UNION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5BD061-B32E-4E84-8488-32AAF076FD2D}"/>
              </a:ext>
            </a:extLst>
          </p:cNvPr>
          <p:cNvCxnSpPr>
            <a:cxnSpLocks/>
          </p:cNvCxnSpPr>
          <p:nvPr/>
        </p:nvCxnSpPr>
        <p:spPr>
          <a:xfrm flipV="1">
            <a:off x="4829175" y="3119049"/>
            <a:ext cx="873579" cy="8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76ED6AC6-CCEF-4485-BD45-B03AA7550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859441"/>
              </p:ext>
            </p:extLst>
          </p:nvPr>
        </p:nvGraphicFramePr>
        <p:xfrm>
          <a:off x="5848895" y="2191948"/>
          <a:ext cx="2728502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64251">
                  <a:extLst>
                    <a:ext uri="{9D8B030D-6E8A-4147-A177-3AD203B41FA5}">
                      <a16:colId xmlns:a16="http://schemas.microsoft.com/office/drawing/2014/main" val="3762511288"/>
                    </a:ext>
                  </a:extLst>
                </a:gridCol>
                <a:gridCol w="1364251">
                  <a:extLst>
                    <a:ext uri="{9D8B030D-6E8A-4147-A177-3AD203B41FA5}">
                      <a16:colId xmlns:a16="http://schemas.microsoft.com/office/drawing/2014/main" val="190046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9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Fecit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8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Another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4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10883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60E3D80-F70E-4B06-8FFB-2B7551F1ED01}"/>
              </a:ext>
            </a:extLst>
          </p:cNvPr>
          <p:cNvSpPr txBox="1"/>
          <p:nvPr/>
        </p:nvSpPr>
        <p:spPr>
          <a:xfrm>
            <a:off x="3175908" y="4302579"/>
            <a:ext cx="39515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onsolas"/>
              </a:rPr>
              <a:t>SELECT column_3,column_4 FROM </a:t>
            </a:r>
            <a:r>
              <a:rPr lang="en-US" sz="1400" i="1" dirty="0">
                <a:latin typeface="Consolas"/>
              </a:rPr>
              <a:t>table2</a:t>
            </a:r>
            <a:r>
              <a:rPr lang="en-US" sz="1400" dirty="0">
                <a:latin typeface="Consolas"/>
              </a:rPr>
              <a:t>;</a:t>
            </a:r>
            <a:r>
              <a:rPr lang="en-US" dirty="0">
                <a:latin typeface="Consolas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80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2CF8-FE0B-46D5-AB12-FD61FF05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CEB17-16A4-400C-9DA1-077FEAB2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CCC5-7B5C-4EE4-8FB1-9A7AC2B9B7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two sub-queries must have the same number of columns</a:t>
            </a:r>
          </a:p>
          <a:p>
            <a:r>
              <a:rPr lang="en-GB" dirty="0">
                <a:latin typeface="Calibri"/>
                <a:cs typeface="Calibri"/>
              </a:rPr>
              <a:t>Depending on the type of application</a:t>
            </a:r>
            <a:r>
              <a:rPr lang="en-US" dirty="0">
                <a:latin typeface="Calibri"/>
                <a:cs typeface="Calibri"/>
              </a:rPr>
              <a:t>, every column selected by the two sub-queries must be of the same data type 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If the application is expecting the second column to be an Integer, then it will raise an error if it finds a string</a:t>
            </a:r>
          </a:p>
        </p:txBody>
      </p:sp>
    </p:spTree>
    <p:extLst>
      <p:ext uri="{BB962C8B-B14F-4D97-AF65-F5344CB8AC3E}">
        <p14:creationId xmlns:p14="http://schemas.microsoft.com/office/powerpoint/2010/main" val="97395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2CF8-FE0B-46D5-AB12-FD61FF05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CEB17-16A4-400C-9DA1-077FEAB2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CCC5-7B5C-4EE4-8FB1-9A7AC2B9B7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When exploiting SQL Injections, the </a:t>
            </a:r>
            <a:r>
              <a:rPr lang="en-US" i="1" dirty="0">
                <a:latin typeface="Calibri"/>
                <a:cs typeface="Calibri"/>
              </a:rPr>
              <a:t>UNION</a:t>
            </a:r>
            <a:r>
              <a:rPr lang="en-US" dirty="0">
                <a:latin typeface="Calibri"/>
                <a:cs typeface="Calibri"/>
              </a:rPr>
              <a:t> statement is effective because it permits an attacker to retrieve the result of an </a:t>
            </a:r>
            <a:r>
              <a:rPr lang="en-US" b="1" dirty="0">
                <a:latin typeface="Calibri"/>
                <a:cs typeface="Calibri"/>
              </a:rPr>
              <a:t>arbitrary SELECT query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18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59C2-1AE3-48B6-887E-300A391F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3C61F-0990-4E22-BA95-28C81EC2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FE682-DCC0-49C7-9F35-1A476E0422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Take the following query:</a:t>
            </a:r>
            <a:endParaRPr lang="en-US" dirty="0"/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There is an injection in the WHERE clause</a:t>
            </a:r>
          </a:p>
          <a:p>
            <a:r>
              <a:rPr lang="en-US" dirty="0">
                <a:latin typeface="Calibri"/>
                <a:cs typeface="Calibri"/>
              </a:rPr>
              <a:t>Using UNION in the injection an attacker can leak data stored in another</a:t>
            </a:r>
            <a:r>
              <a:rPr lang="en-US" b="1" dirty="0">
                <a:latin typeface="Calibri"/>
                <a:cs typeface="Calibri"/>
              </a:rPr>
              <a:t> table</a:t>
            </a:r>
            <a:endParaRPr lang="en-US" b="1" strike="sngStrike" dirty="0">
              <a:highlight>
                <a:srgbClr val="FFFF00"/>
              </a:highlight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C10AA-E1E0-4CEC-AF9C-95AE3B2BAC25}"/>
              </a:ext>
            </a:extLst>
          </p:cNvPr>
          <p:cNvSpPr txBox="1"/>
          <p:nvPr/>
        </p:nvSpPr>
        <p:spPr>
          <a:xfrm>
            <a:off x="1265465" y="1926771"/>
            <a:ext cx="6841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column_1 FROM </a:t>
            </a:r>
            <a:r>
              <a:rPr lang="en-US">
                <a:latin typeface="Consolas"/>
              </a:rPr>
              <a:t>table WHERE column_2 = </a:t>
            </a:r>
            <a:r>
              <a:rPr lang="en-US">
                <a:solidFill>
                  <a:srgbClr val="C00000"/>
                </a:solidFill>
                <a:latin typeface="Consolas"/>
              </a:rPr>
              <a:t>$input</a:t>
            </a:r>
          </a:p>
        </p:txBody>
      </p:sp>
    </p:spTree>
    <p:extLst>
      <p:ext uri="{BB962C8B-B14F-4D97-AF65-F5344CB8AC3E}">
        <p14:creationId xmlns:p14="http://schemas.microsoft.com/office/powerpoint/2010/main" val="196812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94D7-8FB1-47D8-9949-A4551627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Union Based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B39CF5-9931-49B7-AFFA-C0AA7C4F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46F90-89CA-4516-ACCE-16B8107D7B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Using the payload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 full query becomes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And returns a table with every item of table.column_1 </a:t>
            </a:r>
            <a:r>
              <a:rPr lang="en-US" b="1" dirty="0">
                <a:latin typeface="Calibri"/>
                <a:cs typeface="Calibri"/>
              </a:rPr>
              <a:t>and </a:t>
            </a:r>
            <a:r>
              <a:rPr lang="en-US" dirty="0">
                <a:latin typeface="Calibri"/>
                <a:cs typeface="Calibri"/>
              </a:rPr>
              <a:t>every item of </a:t>
            </a:r>
            <a:r>
              <a:rPr lang="en-US" dirty="0" err="1">
                <a:latin typeface="Calibri"/>
                <a:cs typeface="Calibri"/>
              </a:rPr>
              <a:t>secret.secrets</a:t>
            </a:r>
            <a:endParaRPr lang="en-US" dirty="0" err="1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A81CB-EEB0-423B-B613-DD0677B77A08}"/>
              </a:ext>
            </a:extLst>
          </p:cNvPr>
          <p:cNvSpPr txBox="1"/>
          <p:nvPr/>
        </p:nvSpPr>
        <p:spPr>
          <a:xfrm>
            <a:off x="2522764" y="1967593"/>
            <a:ext cx="4727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1 UNION SELECT secret FROM secrets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11FF3-2CCF-4975-B491-B1A76F604DD8}"/>
              </a:ext>
            </a:extLst>
          </p:cNvPr>
          <p:cNvSpPr txBox="1"/>
          <p:nvPr/>
        </p:nvSpPr>
        <p:spPr>
          <a:xfrm>
            <a:off x="1676400" y="2836706"/>
            <a:ext cx="685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column_1 FROM table WHERE 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column_2 =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 UNION SELECT secret FROM secrets</a:t>
            </a:r>
          </a:p>
        </p:txBody>
      </p:sp>
    </p:spTree>
    <p:extLst>
      <p:ext uri="{BB962C8B-B14F-4D97-AF65-F5344CB8AC3E}">
        <p14:creationId xmlns:p14="http://schemas.microsoft.com/office/powerpoint/2010/main" val="1945460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D387D-9CA8-4407-9FDC-34DD4FD01BB4}"/>
              </a:ext>
            </a:extLst>
          </p:cNvPr>
          <p:cNvSpPr txBox="1"/>
          <p:nvPr/>
        </p:nvSpPr>
        <p:spPr>
          <a:xfrm>
            <a:off x="1885950" y="1428750"/>
            <a:ext cx="46128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onsolas"/>
                <a:ea typeface="+mn-lt"/>
                <a:cs typeface="+mn-lt"/>
              </a:rPr>
              <a:t>SELECT column_1 FROM </a:t>
            </a:r>
            <a:r>
              <a:rPr lang="en-US" sz="1400" i="1" dirty="0">
                <a:latin typeface="Consolas"/>
                <a:ea typeface="+mn-lt"/>
                <a:cs typeface="+mn-lt"/>
              </a:rPr>
              <a:t>table </a:t>
            </a:r>
            <a:r>
              <a:rPr lang="en-US" sz="1400" dirty="0">
                <a:latin typeface="Consolas"/>
                <a:ea typeface="+mn-lt"/>
                <a:cs typeface="+mn-lt"/>
              </a:rPr>
              <a:t>WHERE column_2 = </a:t>
            </a:r>
            <a:r>
              <a:rPr lang="en-US" sz="1400" i="1" dirty="0">
                <a:latin typeface="Consolas"/>
                <a:ea typeface="+mn-lt"/>
                <a:cs typeface="+mn-lt"/>
              </a:rPr>
              <a:t>1</a:t>
            </a:r>
            <a:br>
              <a:rPr lang="en-US" sz="1400" i="1" dirty="0">
                <a:latin typeface="Consolas"/>
                <a:ea typeface="+mn-lt"/>
                <a:cs typeface="+mn-lt"/>
              </a:rPr>
            </a:br>
            <a:endParaRPr lang="en-US" sz="1400" i="1">
              <a:latin typeface="Consolas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D92438-251A-437B-8968-3F43FE639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87988"/>
              </p:ext>
            </p:extLst>
          </p:nvPr>
        </p:nvGraphicFramePr>
        <p:xfrm>
          <a:off x="338001" y="1506147"/>
          <a:ext cx="1413237" cy="1112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237">
                  <a:extLst>
                    <a:ext uri="{9D8B030D-6E8A-4147-A177-3AD203B41FA5}">
                      <a16:colId xmlns:a16="http://schemas.microsoft.com/office/drawing/2014/main" val="1800762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column_1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7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1213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Fecit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5340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1A14180-B4A9-4E45-A25A-84C1EC89B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016828"/>
              </p:ext>
            </p:extLst>
          </p:nvPr>
        </p:nvGraphicFramePr>
        <p:xfrm>
          <a:off x="383721" y="3126921"/>
          <a:ext cx="1400990" cy="141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990">
                  <a:extLst>
                    <a:ext uri="{9D8B030D-6E8A-4147-A177-3AD203B41FA5}">
                      <a16:colId xmlns:a16="http://schemas.microsoft.com/office/drawing/2014/main" val="1215199645"/>
                    </a:ext>
                  </a:extLst>
                </a:gridCol>
              </a:tblGrid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05223"/>
                  </a:ext>
                </a:extLst>
              </a:tr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a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337882"/>
                  </a:ext>
                </a:extLst>
              </a:tr>
              <a:tr h="389518">
                <a:tc>
                  <a:txBody>
                    <a:bodyPr/>
                    <a:lstStyle/>
                    <a:p>
                      <a:r>
                        <a:rPr lang="en-US" dirty="0"/>
                        <a:t>another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9003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BE8C0A-7247-43A0-BD1E-F5F67B745258}"/>
              </a:ext>
            </a:extLst>
          </p:cNvPr>
          <p:cNvCxnSpPr/>
          <p:nvPr/>
        </p:nvCxnSpPr>
        <p:spPr>
          <a:xfrm>
            <a:off x="1918607" y="213904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3D73A-6CEC-4551-A6E4-8B7D5CA53263}"/>
              </a:ext>
            </a:extLst>
          </p:cNvPr>
          <p:cNvCxnSpPr/>
          <p:nvPr/>
        </p:nvCxnSpPr>
        <p:spPr>
          <a:xfrm flipV="1">
            <a:off x="1947182" y="3539220"/>
            <a:ext cx="898071" cy="612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AF64FE-3C54-47D5-9B6E-493D4D41AC0F}"/>
              </a:ext>
            </a:extLst>
          </p:cNvPr>
          <p:cNvSpPr txBox="1"/>
          <p:nvPr/>
        </p:nvSpPr>
        <p:spPr>
          <a:xfrm>
            <a:off x="2865664" y="3135086"/>
            <a:ext cx="8980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Consolas"/>
              </a:rPr>
              <a:t>UNION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5BD061-B32E-4E84-8488-32AAF076FD2D}"/>
              </a:ext>
            </a:extLst>
          </p:cNvPr>
          <p:cNvCxnSpPr>
            <a:cxnSpLocks/>
          </p:cNvCxnSpPr>
          <p:nvPr/>
        </p:nvCxnSpPr>
        <p:spPr>
          <a:xfrm flipV="1">
            <a:off x="3865789" y="3314992"/>
            <a:ext cx="1910443" cy="8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76ED6AC6-CCEF-4485-BD45-B03AA7550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846317"/>
              </p:ext>
            </p:extLst>
          </p:nvPr>
        </p:nvGraphicFramePr>
        <p:xfrm>
          <a:off x="5889716" y="2453205"/>
          <a:ext cx="1364251" cy="175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64251">
                  <a:extLst>
                    <a:ext uri="{9D8B030D-6E8A-4147-A177-3AD203B41FA5}">
                      <a16:colId xmlns:a16="http://schemas.microsoft.com/office/drawing/2014/main" val="3762511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9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Fecit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8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another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4492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60E3D80-F70E-4B06-8FFB-2B7551F1ED01}"/>
              </a:ext>
            </a:extLst>
          </p:cNvPr>
          <p:cNvSpPr txBox="1"/>
          <p:nvPr/>
        </p:nvSpPr>
        <p:spPr>
          <a:xfrm>
            <a:off x="1885951" y="4302579"/>
            <a:ext cx="39515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onsolas"/>
              </a:rPr>
              <a:t>SELECT secret FROM secrets</a:t>
            </a:r>
            <a:r>
              <a:rPr lang="en-US" dirty="0">
                <a:latin typeface="Consolas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278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964A-1058-4473-AB56-1867F0AE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53D9D-83FB-4803-AF54-7DEC05DF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EFB06-C2A1-4CA4-962B-67F28B8937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Usually, a </a:t>
            </a:r>
            <a:r>
              <a:rPr lang="en-US" dirty="0" err="1">
                <a:latin typeface="Calibri"/>
                <a:cs typeface="Calibri"/>
              </a:rPr>
              <a:t>pentester</a:t>
            </a:r>
            <a:r>
              <a:rPr lang="en-US" dirty="0">
                <a:latin typeface="Calibri"/>
                <a:cs typeface="Calibri"/>
              </a:rPr>
              <a:t> finds these kinds of issues in a </a:t>
            </a:r>
            <a:r>
              <a:rPr lang="en-US" i="1" dirty="0">
                <a:latin typeface="Calibri"/>
                <a:cs typeface="Calibri"/>
              </a:rPr>
              <a:t>black-box</a:t>
            </a:r>
            <a:r>
              <a:rPr lang="en-US" dirty="0">
                <a:latin typeface="Calibri"/>
                <a:cs typeface="Calibri"/>
              </a:rPr>
              <a:t> environment. The attacker/penetration tester doesn't know the </a:t>
            </a:r>
            <a:r>
              <a:rPr lang="en-US" b="1" dirty="0">
                <a:latin typeface="Calibri"/>
                <a:cs typeface="Calibri"/>
              </a:rPr>
              <a:t>specific query run by the application </a:t>
            </a:r>
            <a:r>
              <a:rPr lang="en-US" dirty="0">
                <a:latin typeface="Calibri"/>
                <a:cs typeface="Calibri"/>
              </a:rPr>
              <a:t> 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This is problematic because in order to use the UNION statement the number of columns used on the first SELECT </a:t>
            </a:r>
            <a:r>
              <a:rPr lang="en-US" b="1" dirty="0">
                <a:latin typeface="Calibri"/>
                <a:cs typeface="Calibri"/>
              </a:rPr>
              <a:t>must be known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611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AF2-479D-46B2-9E85-280572BA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Retrieving the Number of Columns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13BA1-63F1-4DCF-A33E-322B7336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D3E9C-AA5B-4EEA-81EC-EBF7C1FBF6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20000"/>
          </a:bodyPr>
          <a:lstStyle/>
          <a:p>
            <a:r>
              <a:rPr lang="en-US" dirty="0">
                <a:latin typeface="Calibri"/>
                <a:cs typeface="Calibri"/>
              </a:rPr>
              <a:t>Take the following query: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An attacker in a </a:t>
            </a:r>
            <a:r>
              <a:rPr lang="en-US" dirty="0" err="1">
                <a:latin typeface="Calibri"/>
                <a:cs typeface="Calibri"/>
              </a:rPr>
              <a:t>blackbox</a:t>
            </a:r>
            <a:r>
              <a:rPr lang="en-US" dirty="0">
                <a:latin typeface="Calibri"/>
                <a:cs typeface="Calibri"/>
              </a:rPr>
              <a:t> environment cannot know that the select is retrieving three different columns </a:t>
            </a:r>
            <a:r>
              <a:rPr lang="en-US" i="1" dirty="0">
                <a:latin typeface="Calibri"/>
                <a:cs typeface="Calibri"/>
              </a:rPr>
              <a:t>(</a:t>
            </a:r>
            <a:r>
              <a:rPr lang="en-US" i="1" dirty="0" err="1">
                <a:latin typeface="Calibri"/>
                <a:cs typeface="Calibri"/>
              </a:rPr>
              <a:t>id,title,body</a:t>
            </a:r>
            <a:r>
              <a:rPr lang="en-US" i="1" dirty="0">
                <a:latin typeface="Calibri"/>
                <a:cs typeface="Calibri"/>
              </a:rPr>
              <a:t>)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Two main approaches are possible to retrieve the number of columns needed: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Using a </a:t>
            </a:r>
            <a:r>
              <a:rPr lang="en-US" b="1" dirty="0">
                <a:latin typeface="Calibri"/>
                <a:cs typeface="Calibri"/>
              </a:rPr>
              <a:t>Brute-force</a:t>
            </a:r>
            <a:r>
              <a:rPr lang="en-US" dirty="0">
                <a:latin typeface="Calibri"/>
                <a:cs typeface="Calibri"/>
              </a:rPr>
              <a:t> approach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Using the </a:t>
            </a:r>
            <a:r>
              <a:rPr lang="en-US" b="1" dirty="0">
                <a:latin typeface="Calibri"/>
                <a:cs typeface="Calibri"/>
              </a:rPr>
              <a:t>ORDER BY</a:t>
            </a:r>
            <a:r>
              <a:rPr lang="en-US" dirty="0">
                <a:latin typeface="Calibri"/>
                <a:cs typeface="Calibri"/>
              </a:rPr>
              <a:t> keyword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0A2C2-FE68-4765-8754-5A14B13123A8}"/>
              </a:ext>
            </a:extLst>
          </p:cNvPr>
          <p:cNvSpPr txBox="1"/>
          <p:nvPr/>
        </p:nvSpPr>
        <p:spPr>
          <a:xfrm>
            <a:off x="981831" y="1812472"/>
            <a:ext cx="66681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id,title,body FROM </a:t>
            </a:r>
            <a:r>
              <a:rPr lang="en-US">
                <a:latin typeface="Consolas"/>
              </a:rPr>
              <a:t>posts WHERE id = </a:t>
            </a:r>
            <a:r>
              <a:rPr lang="en-US">
                <a:solidFill>
                  <a:srgbClr val="C00000"/>
                </a:solidFill>
                <a:latin typeface="Consolas"/>
              </a:rPr>
              <a:t>$input</a:t>
            </a:r>
            <a:r>
              <a:rPr lang="en-US" dirty="0">
                <a:solidFill>
                  <a:srgbClr val="C0000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77454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AF2-479D-46B2-9E85-280572BA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Retrieving the Number of Columns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13BA1-63F1-4DCF-A33E-322B7336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D3E9C-AA5B-4EEA-81EC-EBF7C1FBF6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Brute-forcing is trivial; you simply add up columns until the query is successful. For example, an attacker will try to inject the following payloads:</a:t>
            </a:r>
          </a:p>
          <a:p>
            <a:r>
              <a:rPr lang="en-US" sz="2000" dirty="0">
                <a:latin typeface="Consolas"/>
                <a:cs typeface="Calibri"/>
              </a:rPr>
              <a:t>1 UNION SELECT 1      &lt;-- Error</a:t>
            </a:r>
          </a:p>
          <a:p>
            <a:r>
              <a:rPr lang="en-US" sz="2000" dirty="0">
                <a:latin typeface="Consolas"/>
                <a:cs typeface="Calibri"/>
              </a:rPr>
              <a:t>1 UNION SELECT 1,2    &lt;-- Error</a:t>
            </a:r>
          </a:p>
          <a:p>
            <a:r>
              <a:rPr lang="en-US" sz="2000" dirty="0">
                <a:latin typeface="Consolas"/>
                <a:cs typeface="Calibri"/>
              </a:rPr>
              <a:t>1 UNION SELECT 1,2,3  &lt;-- Success</a:t>
            </a:r>
            <a:endParaRPr lang="en-US" sz="2000" dirty="0">
              <a:latin typeface="Consolas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CE9A45B-CC28-4C76-A3BF-2EC535EF9BE0}"/>
              </a:ext>
            </a:extLst>
          </p:cNvPr>
          <p:cNvSpPr/>
          <p:nvPr/>
        </p:nvSpPr>
        <p:spPr>
          <a:xfrm>
            <a:off x="5515628" y="3084630"/>
            <a:ext cx="979714" cy="48169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B950B-169C-4D38-9BB4-C8832DF54450}"/>
              </a:ext>
            </a:extLst>
          </p:cNvPr>
          <p:cNvSpPr txBox="1"/>
          <p:nvPr/>
        </p:nvSpPr>
        <p:spPr>
          <a:xfrm>
            <a:off x="6531429" y="311875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The number of columns is </a:t>
            </a:r>
            <a:r>
              <a:rPr lang="en-US" sz="1600" u="sng">
                <a:latin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8631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AF2-479D-46B2-9E85-280572BA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Retrieving the Number of Columns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13BA1-63F1-4DCF-A33E-322B7336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D3E9C-AA5B-4EEA-81EC-EBF7C1FBF6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</a:t>
            </a:r>
            <a:r>
              <a:rPr lang="en-US" b="1" dirty="0">
                <a:latin typeface="Calibri"/>
                <a:cs typeface="Calibri"/>
              </a:rPr>
              <a:t>ORDER BY</a:t>
            </a:r>
            <a:r>
              <a:rPr lang="en-US" dirty="0">
                <a:latin typeface="Calibri"/>
                <a:cs typeface="Calibri"/>
              </a:rPr>
              <a:t> keyword is more effective</a:t>
            </a:r>
          </a:p>
          <a:p>
            <a:r>
              <a:rPr lang="en-US" b="1" dirty="0">
                <a:latin typeface="Calibri"/>
                <a:cs typeface="Calibri"/>
              </a:rPr>
              <a:t>ORDER BY</a:t>
            </a:r>
            <a:r>
              <a:rPr lang="en-US" dirty="0">
                <a:latin typeface="Calibri"/>
                <a:cs typeface="Calibri"/>
              </a:rPr>
              <a:t> is used to order the result of a SELECT query by some of the selected columns</a:t>
            </a:r>
          </a:p>
          <a:p>
            <a:r>
              <a:rPr lang="en-US" dirty="0">
                <a:latin typeface="Calibri"/>
                <a:cs typeface="Calibri"/>
              </a:rPr>
              <a:t>It supports the usage of integer numbers to reference the column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6D8D4-598F-466A-91B7-625F6271F0C6}"/>
              </a:ext>
            </a:extLst>
          </p:cNvPr>
          <p:cNvSpPr txBox="1"/>
          <p:nvPr/>
        </p:nvSpPr>
        <p:spPr>
          <a:xfrm>
            <a:off x="2286000" y="3812722"/>
            <a:ext cx="4800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SELECT c_1,</a:t>
            </a:r>
            <a:r>
              <a:rPr lang="en-US">
                <a:solidFill>
                  <a:srgbClr val="C00000"/>
                </a:solidFill>
              </a:rPr>
              <a:t>c_2</a:t>
            </a:r>
            <a:r>
              <a:rPr lang="en-US"/>
              <a:t>,c_3 FROM table ORDER BY </a:t>
            </a:r>
            <a:r>
              <a:rPr lang="en-US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736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06BD-21B6-465E-A1D5-55E82423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Retrieving the Number of Columns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F7A3EC-937F-4002-8EAE-49043DF6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BBC81-C789-42C9-89EC-ACB0BEC81E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If the index number provided is greater than the number of columns, the query will raise an error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In this way it is possible to retrieve the number of columns doing </a:t>
            </a:r>
            <a:r>
              <a:rPr lang="en-US" b="1" dirty="0">
                <a:latin typeface="Calibri"/>
                <a:cs typeface="Calibri"/>
              </a:rPr>
              <a:t>an exponential or a binary search</a:t>
            </a:r>
            <a:r>
              <a:rPr lang="en-US" dirty="0">
                <a:latin typeface="Calibri"/>
                <a:cs typeface="Calibri"/>
              </a:rPr>
              <a:t>:</a:t>
            </a:r>
          </a:p>
          <a:p>
            <a:r>
              <a:rPr lang="en-US" sz="1900" dirty="0">
                <a:latin typeface="Consolas"/>
                <a:cs typeface="Calibri"/>
              </a:rPr>
              <a:t>1 ORDER BY 1        &lt;-- OK</a:t>
            </a:r>
          </a:p>
          <a:p>
            <a:r>
              <a:rPr lang="en-US" sz="2000" dirty="0">
                <a:latin typeface="Consolas"/>
                <a:cs typeface="Calibri"/>
              </a:rPr>
              <a:t>1 ORDER BY 2       &lt;-- Ok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latin typeface="Consolas"/>
                <a:cs typeface="Calibri"/>
              </a:rPr>
              <a:t>1 ORDER BY 4       &lt;-- Error</a:t>
            </a:r>
          </a:p>
          <a:p>
            <a:r>
              <a:rPr lang="en-US" sz="2000" dirty="0">
                <a:latin typeface="Consolas"/>
                <a:cs typeface="Calibri"/>
              </a:rPr>
              <a:t>1 ORDER BY 3       &lt;-- Ok</a:t>
            </a:r>
          </a:p>
          <a:p>
            <a:endParaRPr lang="en-US" sz="2000" dirty="0">
              <a:latin typeface="Consolas"/>
              <a:cs typeface="Calibri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EADAC72-7707-4088-9714-1B86B667B690}"/>
              </a:ext>
            </a:extLst>
          </p:cNvPr>
          <p:cNvSpPr/>
          <p:nvPr/>
        </p:nvSpPr>
        <p:spPr>
          <a:xfrm>
            <a:off x="5140071" y="3615309"/>
            <a:ext cx="979714" cy="48169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9BEC7-90E5-4FA4-9C0B-22EB000C218B}"/>
              </a:ext>
            </a:extLst>
          </p:cNvPr>
          <p:cNvSpPr txBox="1"/>
          <p:nvPr/>
        </p:nvSpPr>
        <p:spPr>
          <a:xfrm>
            <a:off x="6368143" y="3673929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alibri"/>
                <a:cs typeface="Calibri"/>
              </a:rPr>
              <a:t>The number of columns is </a:t>
            </a:r>
            <a:r>
              <a:rPr lang="en-US" sz="1600" u="sng" dirty="0">
                <a:latin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715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2E0A-DC6D-48A3-AED1-124AAD78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7FF71-5AA4-47D2-B53C-F70641FA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D6197-76B0-4B78-87FC-5300FF0116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20000"/>
          </a:bodyPr>
          <a:lstStyle/>
          <a:p>
            <a:r>
              <a:rPr lang="en-US" dirty="0"/>
              <a:t>Usually, queries only select the first row of the resulting values (</a:t>
            </a:r>
            <a:r>
              <a:rPr lang="en-US" sz="2000" dirty="0">
                <a:latin typeface="Consolas" panose="020B0609020204030204" pitchFamily="49" charset="0"/>
              </a:rPr>
              <a:t>limit 1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Example: In a blog, the page that shows the content of single post needs only to retrieve the first row from a query (the post that is going to show)</a:t>
            </a:r>
            <a:endParaRPr lang="en-US" b="1" dirty="0">
              <a:latin typeface="Calibri"/>
              <a:cs typeface="Calibri"/>
            </a:endParaRPr>
          </a:p>
          <a:p>
            <a:r>
              <a:rPr lang="en-US" i="1" dirty="0">
                <a:latin typeface="Calibri"/>
                <a:cs typeface="Calibri"/>
              </a:rPr>
              <a:t>UNION clause </a:t>
            </a:r>
            <a:r>
              <a:rPr lang="en-US" dirty="0">
                <a:latin typeface="Calibri"/>
                <a:cs typeface="Calibri"/>
              </a:rPr>
              <a:t>works by </a:t>
            </a:r>
            <a:r>
              <a:rPr lang="en-US" b="1" dirty="0">
                <a:latin typeface="Calibri"/>
                <a:cs typeface="Calibri"/>
              </a:rPr>
              <a:t>appending </a:t>
            </a:r>
            <a:r>
              <a:rPr lang="en-US" dirty="0">
                <a:latin typeface="Calibri"/>
                <a:cs typeface="Calibri"/>
              </a:rPr>
              <a:t>the rows of the second select operation to the first one</a:t>
            </a:r>
          </a:p>
          <a:p>
            <a:r>
              <a:rPr lang="en-US" dirty="0">
                <a:latin typeface="Calibri"/>
                <a:cs typeface="Calibri"/>
              </a:rPr>
              <a:t>The payload injected thus, must ensure that the first query returns </a:t>
            </a:r>
            <a:r>
              <a:rPr lang="en-US" b="1" dirty="0">
                <a:latin typeface="Calibri"/>
                <a:cs typeface="Calibri"/>
              </a:rPr>
              <a:t>nothing</a:t>
            </a: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03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2E0A-DC6D-48A3-AED1-124AAD78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7FF71-5AA4-47D2-B53C-F70641FA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D6197-76B0-4B78-87FC-5300FF0116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Similarly, to the login bypass, some logic clauses can be injected in order to "delete" all the results from the first SELECT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 logic clause needs to make an "always false" condition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D4BCF-BAC6-4AC5-9EDE-33054DC9C617}"/>
              </a:ext>
            </a:extLst>
          </p:cNvPr>
          <p:cNvSpPr txBox="1"/>
          <p:nvPr/>
        </p:nvSpPr>
        <p:spPr>
          <a:xfrm>
            <a:off x="635237" y="3790950"/>
            <a:ext cx="83275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  <a:ea typeface="+mn-lt"/>
                <a:cs typeface="+mn-lt"/>
              </a:rPr>
              <a:t>SELECT c_1,c_2,c_3 FROM table WHERE</a:t>
            </a:r>
            <a:r>
              <a:rPr lang="en-US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c_1 = </a:t>
            </a:r>
            <a:r>
              <a:rPr lang="en-US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1 AND 1=0 UNION SELECT 1,2,3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482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2E0A-DC6D-48A3-AED1-124AAD78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7FF71-5AA4-47D2-B53C-F70641FA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D6197-76B0-4B78-87FC-5300FF0116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Similarly, to the login bypass, some logic clauses can be injected in order to "delete" all the results from the first SELECT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 logic clause needs to make an "always false" condition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D4BCF-BAC6-4AC5-9EDE-33054DC9C617}"/>
              </a:ext>
            </a:extLst>
          </p:cNvPr>
          <p:cNvSpPr txBox="1"/>
          <p:nvPr/>
        </p:nvSpPr>
        <p:spPr>
          <a:xfrm>
            <a:off x="569007" y="3818633"/>
            <a:ext cx="83275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  <a:ea typeface="+mn-lt"/>
                <a:cs typeface="+mn-lt"/>
              </a:rPr>
              <a:t>SELECT c_1,c_2,c_3 FROM table WHERE</a:t>
            </a:r>
            <a:r>
              <a:rPr lang="en-US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c_1 = </a:t>
            </a:r>
            <a:r>
              <a:rPr lang="en-US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1 AND 1=0 UNION SELECT 1,2,3</a:t>
            </a: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B0351-C335-4EB3-A001-985116236F74}"/>
              </a:ext>
            </a:extLst>
          </p:cNvPr>
          <p:cNvSpPr txBox="1"/>
          <p:nvPr/>
        </p:nvSpPr>
        <p:spPr>
          <a:xfrm>
            <a:off x="3200400" y="4200526"/>
            <a:ext cx="3940628" cy="646331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Returns nothing, because 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“X AND False” is always False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E565F-BE76-4D76-9127-7DB9732B993F}"/>
              </a:ext>
            </a:extLst>
          </p:cNvPr>
          <p:cNvSpPr/>
          <p:nvPr/>
        </p:nvSpPr>
        <p:spPr>
          <a:xfrm>
            <a:off x="609600" y="3878951"/>
            <a:ext cx="6531428" cy="261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0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2E0A-DC6D-48A3-AED1-124AAD78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Based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7FF71-5AA4-47D2-B53C-F70641FA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D6197-76B0-4B78-87FC-5300FF0116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Similarly, to the login bypass, some logic clauses can be injected in order to "delete" all the results from the first SELECT 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 logic clause needs to make an "always false" condition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D4BCF-BAC6-4AC5-9EDE-33054DC9C617}"/>
              </a:ext>
            </a:extLst>
          </p:cNvPr>
          <p:cNvSpPr txBox="1"/>
          <p:nvPr/>
        </p:nvSpPr>
        <p:spPr>
          <a:xfrm>
            <a:off x="533400" y="3714750"/>
            <a:ext cx="83275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  <a:ea typeface="+mn-lt"/>
                <a:cs typeface="+mn-lt"/>
              </a:rPr>
              <a:t>SELECT c_1,c_2,c_3 FROM table WHERE</a:t>
            </a:r>
            <a:r>
              <a:rPr lang="en-US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c_1 = </a:t>
            </a:r>
            <a:r>
              <a:rPr lang="en-US" dirty="0">
                <a:solidFill>
                  <a:srgbClr val="C00000"/>
                </a:solidFill>
                <a:latin typeface="Consolas"/>
                <a:ea typeface="+mn-lt"/>
                <a:cs typeface="+mn-lt"/>
              </a:rPr>
              <a:t>1 AND 1=0 UNION SELECT 1,2,3</a:t>
            </a: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7C5DA-77AB-458B-A0F6-A2AF9386D9AA}"/>
              </a:ext>
            </a:extLst>
          </p:cNvPr>
          <p:cNvSpPr txBox="1"/>
          <p:nvPr/>
        </p:nvSpPr>
        <p:spPr>
          <a:xfrm>
            <a:off x="3200400" y="4149600"/>
            <a:ext cx="27432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cs typeface="Calibri"/>
              </a:rPr>
              <a:t>Returns 1,2,3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D1C0E5-28D2-49AC-998E-AB1C3EBB74A0}"/>
              </a:ext>
            </a:extLst>
          </p:cNvPr>
          <p:cNvSpPr/>
          <p:nvPr/>
        </p:nvSpPr>
        <p:spPr>
          <a:xfrm>
            <a:off x="7097484" y="3735015"/>
            <a:ext cx="1763486" cy="269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B979A-02A0-4F6B-89B1-92CBFE97CAAC}"/>
              </a:ext>
            </a:extLst>
          </p:cNvPr>
          <p:cNvSpPr/>
          <p:nvPr/>
        </p:nvSpPr>
        <p:spPr>
          <a:xfrm>
            <a:off x="570140" y="4023632"/>
            <a:ext cx="889907" cy="302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27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7741-7B1F-4FCC-BBB4-7B12A6C6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FE1786-D189-4083-953D-19B0E53A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9A6CD-9EB8-421B-8C8E-6331704413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Another problem in a black-box environment is that the structure of the database is unknown</a:t>
            </a:r>
          </a:p>
          <a:p>
            <a:r>
              <a:rPr lang="en-US" dirty="0">
                <a:latin typeface="Calibri"/>
                <a:cs typeface="Calibri"/>
              </a:rPr>
              <a:t>Some DBMS have a special schema, called </a:t>
            </a:r>
            <a:r>
              <a:rPr lang="en-US" i="1" dirty="0">
                <a:latin typeface="Calibri"/>
                <a:cs typeface="Calibri"/>
              </a:rPr>
              <a:t>INFORMATION_SCHEMA</a:t>
            </a:r>
            <a:r>
              <a:rPr lang="en-US" dirty="0">
                <a:latin typeface="Calibri"/>
                <a:cs typeface="Calibri"/>
              </a:rPr>
              <a:t>, that contains all the meta-data of the database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95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8E1-EB67-4A97-8260-EE01DB89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3ABDA-AAF9-4708-90C4-9380D4C1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81AD5-73EE-40F7-B06C-462F1DD8C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77500" lnSpcReduction="20000"/>
          </a:bodyPr>
          <a:lstStyle/>
          <a:p>
            <a:r>
              <a:rPr lang="en-US" dirty="0">
                <a:latin typeface="Calibri"/>
                <a:cs typeface="Calibri"/>
              </a:rPr>
              <a:t>The structure of INFORMATION_SCHEMA is pretty simple but tends to vary from DBMS to DBMS. In the sequel, we focus on </a:t>
            </a:r>
            <a:r>
              <a:rPr lang="en-US" b="1" dirty="0">
                <a:latin typeface="Calibri"/>
                <a:cs typeface="Calibri"/>
              </a:rPr>
              <a:t>MySQL, </a:t>
            </a:r>
            <a:r>
              <a:rPr lang="en-US" dirty="0">
                <a:latin typeface="Calibri"/>
                <a:cs typeface="Calibri"/>
              </a:rPr>
              <a:t>without loosing in generality, being it almost the same for all the major DBMSs</a:t>
            </a:r>
          </a:p>
          <a:p>
            <a:r>
              <a:rPr lang="en-US" dirty="0">
                <a:latin typeface="Calibri"/>
                <a:cs typeface="Calibri"/>
              </a:rPr>
              <a:t>PostgreSQL, MSSQL, SQLite have similar way to store meta-data.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https://www.postgresql.org/docs/9.1/information-schema.html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https://docs.microsoft.com/en-us/sql/relational-databases/system-information-schema-views/system-information-schema-views-transact-sql?view=sql-server-ver15</a:t>
            </a:r>
            <a:endParaRPr lang="en-US" dirty="0"/>
          </a:p>
          <a:p>
            <a:pPr lvl="1"/>
            <a:r>
              <a:rPr lang="en-US" dirty="0"/>
              <a:t>https://wiki.tcl-lang.org/page/sqlite_master</a:t>
            </a:r>
          </a:p>
        </p:txBody>
      </p:sp>
    </p:spTree>
    <p:extLst>
      <p:ext uri="{BB962C8B-B14F-4D97-AF65-F5344CB8AC3E}">
        <p14:creationId xmlns:p14="http://schemas.microsoft.com/office/powerpoint/2010/main" val="1463507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C765F-D262-4B65-ACF8-88F4FB8F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FEB6D-360C-4339-BED4-E7BB06FB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C839E-710F-4204-A5CD-E691F66F35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Useful tables of INFORMATION_SCHEMA for these attacks are:</a:t>
            </a:r>
          </a:p>
          <a:p>
            <a:pPr lvl="1"/>
            <a:r>
              <a:rPr lang="en-US" i="1" dirty="0" err="1">
                <a:latin typeface="Calibri"/>
                <a:cs typeface="Calibri"/>
              </a:rPr>
              <a:t>INFORMATION_SCHEMA.schemata</a:t>
            </a:r>
            <a:endParaRPr lang="en-US" i="1" dirty="0">
              <a:latin typeface="Calibri"/>
              <a:cs typeface="Calibri"/>
            </a:endParaRPr>
          </a:p>
          <a:p>
            <a:pPr lvl="2"/>
            <a:r>
              <a:rPr lang="en-US" dirty="0">
                <a:latin typeface="Calibri"/>
                <a:cs typeface="Calibri"/>
              </a:rPr>
              <a:t>A list of every </a:t>
            </a:r>
            <a:r>
              <a:rPr lang="en-US" b="1" dirty="0">
                <a:latin typeface="Calibri"/>
                <a:cs typeface="Calibri"/>
              </a:rPr>
              <a:t>schema</a:t>
            </a:r>
            <a:r>
              <a:rPr lang="en-US" dirty="0">
                <a:latin typeface="Calibri"/>
                <a:cs typeface="Calibri"/>
              </a:rPr>
              <a:t> that is present in the database</a:t>
            </a:r>
          </a:p>
          <a:p>
            <a:pPr lvl="1"/>
            <a:r>
              <a:rPr lang="en-US" i="1" dirty="0" err="1">
                <a:latin typeface="Calibri"/>
                <a:cs typeface="Calibri"/>
              </a:rPr>
              <a:t>INFORMATION_SCHEMA.tables</a:t>
            </a:r>
            <a:endParaRPr lang="en-US" i="1" dirty="0" err="1"/>
          </a:p>
          <a:p>
            <a:pPr lvl="2"/>
            <a:r>
              <a:rPr lang="en-US" dirty="0">
                <a:latin typeface="Calibri"/>
                <a:cs typeface="Calibri"/>
              </a:rPr>
              <a:t>A list of every </a:t>
            </a:r>
            <a:r>
              <a:rPr lang="en-US" b="1" dirty="0">
                <a:latin typeface="Calibri"/>
                <a:cs typeface="Calibri"/>
              </a:rPr>
              <a:t>table</a:t>
            </a:r>
            <a:r>
              <a:rPr lang="en-US" dirty="0">
                <a:latin typeface="Calibri"/>
                <a:cs typeface="Calibri"/>
              </a:rPr>
              <a:t> that is present in the database</a:t>
            </a:r>
          </a:p>
          <a:p>
            <a:pPr lvl="1"/>
            <a:r>
              <a:rPr lang="en-US" i="1" dirty="0" err="1">
                <a:latin typeface="Calibri"/>
                <a:cs typeface="Calibri"/>
              </a:rPr>
              <a:t>INFORMATION_SCHEMA.columns</a:t>
            </a:r>
            <a:endParaRPr lang="en-US" i="1" dirty="0" err="1"/>
          </a:p>
          <a:p>
            <a:pPr lvl="2"/>
            <a:r>
              <a:rPr lang="en-US" dirty="0">
                <a:latin typeface="Calibri"/>
                <a:cs typeface="Calibri"/>
              </a:rPr>
              <a:t>A list of every </a:t>
            </a:r>
            <a:r>
              <a:rPr lang="en-US" b="1" dirty="0">
                <a:latin typeface="Calibri"/>
                <a:cs typeface="Calibri"/>
              </a:rPr>
              <a:t>column</a:t>
            </a:r>
            <a:r>
              <a:rPr lang="en-US" dirty="0">
                <a:latin typeface="Calibri"/>
                <a:cs typeface="Calibri"/>
              </a:rPr>
              <a:t> that is present in the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22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12D4-3336-4EAD-9804-E3344F9C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8F6A2-E42B-4D52-BAF1-15CC4CAA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D0627-D45B-4E95-A349-7D1A0EA5CE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list of all schema in the database can be found inside the table </a:t>
            </a:r>
            <a:r>
              <a:rPr lang="en-US" dirty="0" err="1">
                <a:latin typeface="Calibri"/>
                <a:cs typeface="Calibri"/>
              </a:rPr>
              <a:t>INFORMATION_SCHEMA.schemata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Retrieving a list of all schema’s name is simple: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428F-13B3-4977-8CCD-F3E762E167A1}"/>
              </a:ext>
            </a:extLst>
          </p:cNvPr>
          <p:cNvSpPr txBox="1"/>
          <p:nvPr/>
        </p:nvSpPr>
        <p:spPr>
          <a:xfrm>
            <a:off x="1191986" y="3216729"/>
            <a:ext cx="7339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schema_name </a:t>
            </a:r>
            <a:r>
              <a:rPr lang="en-US">
                <a:latin typeface="Consolas"/>
              </a:rPr>
              <a:t>FROM information_schema.schemata</a:t>
            </a:r>
          </a:p>
        </p:txBody>
      </p:sp>
    </p:spTree>
    <p:extLst>
      <p:ext uri="{BB962C8B-B14F-4D97-AF65-F5344CB8AC3E}">
        <p14:creationId xmlns:p14="http://schemas.microsoft.com/office/powerpoint/2010/main" val="3651363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12D4-3336-4EAD-9804-E3344F9C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8F6A2-E42B-4D52-BAF1-15CC4CAA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D0627-D45B-4E95-A349-7D1A0EA5CE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Similarly, all the table names are found in the table </a:t>
            </a:r>
            <a:r>
              <a:rPr lang="en-US" dirty="0" err="1">
                <a:latin typeface="Calibri"/>
                <a:cs typeface="Calibri"/>
              </a:rPr>
              <a:t>INFORMATION_SCHEMA.tables</a:t>
            </a:r>
            <a:endParaRPr lang="en-US" dirty="0" err="1"/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It is possible to "tune" a bit the query, selecting only the tables for a certain schema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428F-13B3-4977-8CCD-F3E762E167A1}"/>
              </a:ext>
            </a:extLst>
          </p:cNvPr>
          <p:cNvSpPr txBox="1"/>
          <p:nvPr/>
        </p:nvSpPr>
        <p:spPr>
          <a:xfrm>
            <a:off x="1110343" y="2383972"/>
            <a:ext cx="7339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table_name FROM information_schema.tables</a:t>
            </a:r>
            <a:endParaRPr lang="en-US" dirty="0"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92F9A-275D-47D1-B629-2A62CF0988E8}"/>
              </a:ext>
            </a:extLst>
          </p:cNvPr>
          <p:cNvSpPr txBox="1"/>
          <p:nvPr/>
        </p:nvSpPr>
        <p:spPr>
          <a:xfrm>
            <a:off x="612322" y="3788229"/>
            <a:ext cx="775607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solas"/>
              </a:rPr>
              <a:t>SELECT table_name FROM information_schema.tables WHERE table_schema </a:t>
            </a:r>
            <a:r>
              <a:rPr lang="en-US" sz="1600">
                <a:latin typeface="Consolas"/>
              </a:rPr>
              <a:t>= 'someschema' -- Note that it is possible to use the </a:t>
            </a:r>
            <a:r>
              <a:rPr lang="en-US" sz="1600" b="1">
                <a:latin typeface="Consolas"/>
              </a:rPr>
              <a:t>DATABASE()</a:t>
            </a:r>
            <a:r>
              <a:rPr lang="en-US" sz="1600" dirty="0">
                <a:latin typeface="Consolas"/>
              </a:rPr>
              <a:t> </a:t>
            </a:r>
            <a:r>
              <a:rPr lang="en-US" sz="1600">
                <a:latin typeface="Consolas"/>
              </a:rPr>
              <a:t>function to retrieve the current schema</a:t>
            </a:r>
          </a:p>
        </p:txBody>
      </p:sp>
    </p:spTree>
    <p:extLst>
      <p:ext uri="{BB962C8B-B14F-4D97-AF65-F5344CB8AC3E}">
        <p14:creationId xmlns:p14="http://schemas.microsoft.com/office/powerpoint/2010/main" val="657497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F2DB-52B8-4B26-B3B6-95B2E0EB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Information_schema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AE43-7C36-4F1B-93D8-F6E40B98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78252-93A9-4E46-9484-25B1BFDBCC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Finally, to retrieve all the columns for a given </a:t>
            </a:r>
            <a:r>
              <a:rPr lang="en-US" dirty="0" err="1">
                <a:latin typeface="Calibri"/>
                <a:cs typeface="Calibri"/>
              </a:rPr>
              <a:t>table_name</a:t>
            </a:r>
            <a:r>
              <a:rPr lang="en-US" dirty="0">
                <a:latin typeface="Calibri"/>
                <a:cs typeface="Calibri"/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Or, to leak every column along its table name: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D1C61-7104-4C6B-AB27-1CB64838192D}"/>
              </a:ext>
            </a:extLst>
          </p:cNvPr>
          <p:cNvSpPr txBox="1"/>
          <p:nvPr/>
        </p:nvSpPr>
        <p:spPr>
          <a:xfrm>
            <a:off x="612322" y="2498271"/>
            <a:ext cx="80418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column_name FROM information_schema.columns WHERE table_name = </a:t>
            </a:r>
            <a:r>
              <a:rPr lang="en-US" dirty="0">
                <a:latin typeface="Consolas"/>
              </a:rPr>
              <a:t>'sometable'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7BA11-FFC5-4079-BD9B-DEBD8E6A496A}"/>
              </a:ext>
            </a:extLst>
          </p:cNvPr>
          <p:cNvSpPr txBox="1"/>
          <p:nvPr/>
        </p:nvSpPr>
        <p:spPr>
          <a:xfrm>
            <a:off x="608240" y="3906610"/>
            <a:ext cx="75601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table_name,column name FROM information_schema.columns </a:t>
            </a:r>
            <a:r>
              <a:rPr lang="en-US">
                <a:latin typeface="Consolas"/>
              </a:rPr>
              <a:t>WHERE table_schema = DATABASE()</a:t>
            </a:r>
          </a:p>
        </p:txBody>
      </p:sp>
    </p:spTree>
    <p:extLst>
      <p:ext uri="{BB962C8B-B14F-4D97-AF65-F5344CB8AC3E}">
        <p14:creationId xmlns:p14="http://schemas.microsoft.com/office/powerpoint/2010/main" val="1808466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B532-6082-4EFE-8744-0F1BCCA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Injections: Recap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057F8-DEEC-45EE-948E-639583AC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19DCC-5DC3-454F-A6B4-891A948306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Given the following vulnerable query in a black-box situation that shows back only the first row: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An attacker first needs to retrieve the number of columns used by the select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D1E3-A96B-400A-B084-323F161636B7}"/>
              </a:ext>
            </a:extLst>
          </p:cNvPr>
          <p:cNvSpPr txBox="1"/>
          <p:nvPr/>
        </p:nvSpPr>
        <p:spPr>
          <a:xfrm>
            <a:off x="1069522" y="2392135"/>
            <a:ext cx="6498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title, post FROM posts WHERE id = </a:t>
            </a:r>
            <a:r>
              <a:rPr lang="en-US">
                <a:solidFill>
                  <a:srgbClr val="C00000"/>
                </a:solidFill>
                <a:latin typeface="Consolas"/>
              </a:rPr>
              <a:t>$input</a:t>
            </a:r>
          </a:p>
        </p:txBody>
      </p:sp>
    </p:spTree>
    <p:extLst>
      <p:ext uri="{BB962C8B-B14F-4D97-AF65-F5344CB8AC3E}">
        <p14:creationId xmlns:p14="http://schemas.microsoft.com/office/powerpoint/2010/main" val="1131570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B532-6082-4EFE-8744-0F1BCCA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Injections: Recap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057F8-DEEC-45EE-948E-639583AC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19DCC-5DC3-454F-A6B4-891A948306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Using a brute-force approach: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Making the first select </a:t>
            </a:r>
            <a:r>
              <a:rPr lang="en-US" b="1" dirty="0">
                <a:latin typeface="Calibri"/>
                <a:cs typeface="Calibri"/>
              </a:rPr>
              <a:t>returns nothing: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D1E3-A96B-400A-B084-323F161636B7}"/>
              </a:ext>
            </a:extLst>
          </p:cNvPr>
          <p:cNvSpPr txBox="1"/>
          <p:nvPr/>
        </p:nvSpPr>
        <p:spPr>
          <a:xfrm>
            <a:off x="783772" y="1934936"/>
            <a:ext cx="76499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title, post FROM posts WHERE id = </a:t>
            </a:r>
            <a:r>
              <a:rPr lang="en-US">
                <a:solidFill>
                  <a:srgbClr val="C00000"/>
                </a:solidFill>
                <a:latin typeface="Consolas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>
                <a:solidFill>
                  <a:srgbClr val="C00000"/>
                </a:solidFill>
                <a:latin typeface="Consolas"/>
              </a:rPr>
              <a:t>UNION SELECT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A2151-E9AC-46E2-A0FC-D8A791B176EF}"/>
              </a:ext>
            </a:extLst>
          </p:cNvPr>
          <p:cNvSpPr txBox="1"/>
          <p:nvPr/>
        </p:nvSpPr>
        <p:spPr>
          <a:xfrm>
            <a:off x="783772" y="2277836"/>
            <a:ext cx="7862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title, post FROM posts WHERE id = </a:t>
            </a:r>
            <a:r>
              <a:rPr lang="en-US">
                <a:solidFill>
                  <a:srgbClr val="C00000"/>
                </a:solidFill>
                <a:latin typeface="Consolas"/>
              </a:rPr>
              <a:t>1</a:t>
            </a:r>
            <a:r>
              <a:rPr lang="en-US">
                <a:solidFill>
                  <a:srgbClr val="000000"/>
                </a:solidFill>
                <a:latin typeface="Consolas"/>
              </a:rPr>
              <a:t> </a:t>
            </a:r>
            <a:r>
              <a:rPr lang="en-US">
                <a:solidFill>
                  <a:srgbClr val="C00000"/>
                </a:solidFill>
                <a:latin typeface="Consolas"/>
              </a:rPr>
              <a:t>UNION SELECT 1, 2</a:t>
            </a:r>
          </a:p>
        </p:txBody>
      </p:sp>
      <p:pic>
        <p:nvPicPr>
          <p:cNvPr id="7" name="Graphic 7" descr="Checkmark">
            <a:extLst>
              <a:ext uri="{FF2B5EF4-FFF2-40B4-BE49-F238E27FC236}">
                <a16:creationId xmlns:a16="http://schemas.microsoft.com/office/drawing/2014/main" id="{9BB14F02-4F43-4036-8C85-67BB2B7A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4336" y="2302328"/>
            <a:ext cx="334736" cy="342901"/>
          </a:xfrm>
          <a:prstGeom prst="rect">
            <a:avLst/>
          </a:prstGeom>
        </p:spPr>
      </p:pic>
      <p:pic>
        <p:nvPicPr>
          <p:cNvPr id="9" name="Graphic 9" descr="Close">
            <a:extLst>
              <a:ext uri="{FF2B5EF4-FFF2-40B4-BE49-F238E27FC236}">
                <a16:creationId xmlns:a16="http://schemas.microsoft.com/office/drawing/2014/main" id="{D591F196-7844-49E2-97DD-1F3B8E961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9021" y="1918607"/>
            <a:ext cx="400051" cy="408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7519AD-3DFB-461C-AB90-6DE0A8FA3383}"/>
              </a:ext>
            </a:extLst>
          </p:cNvPr>
          <p:cNvSpPr txBox="1"/>
          <p:nvPr/>
        </p:nvSpPr>
        <p:spPr>
          <a:xfrm>
            <a:off x="836841" y="3660623"/>
            <a:ext cx="78622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title, post FROM posts WHERE id =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and 1=0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UNION SELECT 1, 2</a:t>
            </a:r>
          </a:p>
        </p:txBody>
      </p:sp>
    </p:spTree>
    <p:extLst>
      <p:ext uri="{BB962C8B-B14F-4D97-AF65-F5344CB8AC3E}">
        <p14:creationId xmlns:p14="http://schemas.microsoft.com/office/powerpoint/2010/main" val="2139859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B532-6082-4EFE-8744-0F1BCCA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Injections: Recap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057F8-DEEC-45EE-948E-639583AC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19DCC-5DC3-454F-A6B4-891A948306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The page now should show 1 and 2 instead of some text. Then it is necessary to retrieve all the table/columns in the current database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 err="1">
                <a:latin typeface="Calibri"/>
                <a:cs typeface="Calibri"/>
              </a:rPr>
              <a:t>group_concat</a:t>
            </a:r>
            <a:r>
              <a:rPr lang="en-US" dirty="0">
                <a:latin typeface="Calibri"/>
                <a:cs typeface="Calibri"/>
              </a:rPr>
              <a:t> is used to combine all the results inside one row  (https://www.geeksforgeeks.org/mysql-group_concat-function/)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D1E3-A96B-400A-B084-323F161636B7}"/>
              </a:ext>
            </a:extLst>
          </p:cNvPr>
          <p:cNvSpPr txBox="1"/>
          <p:nvPr/>
        </p:nvSpPr>
        <p:spPr>
          <a:xfrm>
            <a:off x="857251" y="2441121"/>
            <a:ext cx="76499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title, post FROM posts WHERE id =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and 1=0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UNION SELECT 1,group_concat(table_name,':',column_name) FROM </a:t>
            </a:r>
            <a:r>
              <a:rPr lang="en-US">
                <a:solidFill>
                  <a:srgbClr val="C00000"/>
                </a:solidFill>
                <a:latin typeface="Consolas"/>
              </a:rPr>
              <a:t>INFORMATION_SCHEMA.columns WHERE table_schema = DATABASE()</a:t>
            </a:r>
          </a:p>
        </p:txBody>
      </p:sp>
    </p:spTree>
    <p:extLst>
      <p:ext uri="{BB962C8B-B14F-4D97-AF65-F5344CB8AC3E}">
        <p14:creationId xmlns:p14="http://schemas.microsoft.com/office/powerpoint/2010/main" val="2641376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B532-6082-4EFE-8744-0F1BCCA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Union Based SQL Injections: Recap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057F8-DEEC-45EE-948E-639583AC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19DCC-5DC3-454F-A6B4-891A948306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Finally, when the structure of the database is known, one can leak every entry of the database. 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D1E3-A96B-400A-B084-323F161636B7}"/>
              </a:ext>
            </a:extLst>
          </p:cNvPr>
          <p:cNvSpPr txBox="1"/>
          <p:nvPr/>
        </p:nvSpPr>
        <p:spPr>
          <a:xfrm>
            <a:off x="884466" y="2952750"/>
            <a:ext cx="76499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title, post FROM posts WHERE id =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and 1=0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UNION SELECT 1,group_concat(</a:t>
            </a:r>
            <a:r>
              <a:rPr lang="en-US" dirty="0" err="1">
                <a:solidFill>
                  <a:srgbClr val="C00000"/>
                </a:solidFill>
                <a:latin typeface="Consolas"/>
              </a:rPr>
              <a:t>username,':',password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) FROM users</a:t>
            </a:r>
          </a:p>
        </p:txBody>
      </p:sp>
    </p:spTree>
    <p:extLst>
      <p:ext uri="{BB962C8B-B14F-4D97-AF65-F5344CB8AC3E}">
        <p14:creationId xmlns:p14="http://schemas.microsoft.com/office/powerpoint/2010/main" val="3803977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48600" cy="3268624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Overview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A simple case: Login Bypass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Union-Based SQL Injections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Retrieving The Database Structure: </a:t>
            </a:r>
            <a:r>
              <a:rPr lang="en-US" i="1" dirty="0" err="1">
                <a:latin typeface="Calibri"/>
                <a:cs typeface="Calibri"/>
              </a:rPr>
              <a:t>infomation_schema</a:t>
            </a:r>
            <a:endParaRPr lang="en-US" i="1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Blind SQL Injections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Preventing SQL Injections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25583D-0DAB-42F7-BD5E-8B2ED2D92CA3}"/>
              </a:ext>
            </a:extLst>
          </p:cNvPr>
          <p:cNvSpPr/>
          <p:nvPr/>
        </p:nvSpPr>
        <p:spPr>
          <a:xfrm>
            <a:off x="685800" y="3780063"/>
            <a:ext cx="7992835" cy="5959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47154-D8ED-4EB9-8588-A505FA399254}"/>
              </a:ext>
            </a:extLst>
          </p:cNvPr>
          <p:cNvSpPr/>
          <p:nvPr/>
        </p:nvSpPr>
        <p:spPr>
          <a:xfrm>
            <a:off x="579664" y="1355271"/>
            <a:ext cx="7992835" cy="186962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6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result of the query is not always readable by the attacker</a:t>
            </a:r>
          </a:p>
          <a:p>
            <a:r>
              <a:rPr lang="en-US" dirty="0">
                <a:latin typeface="Calibri"/>
                <a:cs typeface="Calibri"/>
              </a:rPr>
              <a:t>The "login bypass" injection is an excellent example of this: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The only information that is reported back to the attacker is if the login </a:t>
            </a:r>
            <a:r>
              <a:rPr lang="en-US" b="1" dirty="0">
                <a:latin typeface="Calibri"/>
                <a:cs typeface="Calibri"/>
              </a:rPr>
              <a:t>is successful or not</a:t>
            </a:r>
          </a:p>
        </p:txBody>
      </p:sp>
    </p:spTree>
    <p:extLst>
      <p:ext uri="{BB962C8B-B14F-4D97-AF65-F5344CB8AC3E}">
        <p14:creationId xmlns:p14="http://schemas.microsoft.com/office/powerpoint/2010/main" val="1191133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These type of injections are called </a:t>
            </a:r>
            <a:r>
              <a:rPr lang="en-US" b="1" dirty="0">
                <a:latin typeface="Calibri"/>
                <a:cs typeface="Calibri"/>
              </a:rPr>
              <a:t>blind SQL Injections</a:t>
            </a:r>
          </a:p>
          <a:p>
            <a:r>
              <a:rPr lang="en-US" dirty="0">
                <a:latin typeface="Calibri"/>
                <a:cs typeface="Calibri"/>
              </a:rPr>
              <a:t>To retrieve data from these injections it is possible to use the injection as a </a:t>
            </a:r>
            <a:r>
              <a:rPr lang="en-US" b="1" dirty="0">
                <a:latin typeface="Calibri"/>
                <a:cs typeface="Calibri"/>
              </a:rPr>
              <a:t>true/false oracle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381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For example, given the following injection: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One can retrieve the content of the table </a:t>
            </a:r>
            <a:r>
              <a:rPr lang="en-US" b="1" dirty="0">
                <a:latin typeface="Calibri"/>
                <a:cs typeface="Calibri"/>
              </a:rPr>
              <a:t>password</a:t>
            </a:r>
            <a:r>
              <a:rPr lang="en-US" dirty="0">
                <a:latin typeface="Calibri"/>
                <a:cs typeface="Calibri"/>
              </a:rPr>
              <a:t> asking the following question:</a:t>
            </a:r>
            <a:endParaRPr lang="en-US" b="1" dirty="0"/>
          </a:p>
          <a:p>
            <a:pPr lvl="1"/>
            <a:r>
              <a:rPr lang="en-US" dirty="0">
                <a:latin typeface="Calibri"/>
                <a:cs typeface="Calibri"/>
              </a:rPr>
              <a:t>Is the </a:t>
            </a:r>
            <a:r>
              <a:rPr lang="en-US" b="1" dirty="0">
                <a:latin typeface="Calibri"/>
                <a:cs typeface="Calibri"/>
              </a:rPr>
              <a:t>first</a:t>
            </a:r>
            <a:r>
              <a:rPr lang="en-US" dirty="0">
                <a:latin typeface="Calibri"/>
                <a:cs typeface="Calibri"/>
              </a:rPr>
              <a:t> character of the column password an 'a'? --&gt; </a:t>
            </a:r>
            <a:r>
              <a:rPr lang="en-US" b="1" dirty="0">
                <a:latin typeface="Calibri"/>
                <a:cs typeface="Calibri"/>
              </a:rPr>
              <a:t>no</a:t>
            </a:r>
            <a:endParaRPr lang="en-US" b="1" dirty="0"/>
          </a:p>
          <a:p>
            <a:pPr lvl="1"/>
            <a:r>
              <a:rPr lang="en-US" dirty="0">
                <a:latin typeface="Calibri"/>
                <a:cs typeface="Calibri"/>
              </a:rPr>
              <a:t>Is the </a:t>
            </a:r>
            <a:r>
              <a:rPr lang="en-US" b="1" dirty="0">
                <a:latin typeface="Calibri"/>
                <a:cs typeface="Calibri"/>
              </a:rPr>
              <a:t>first</a:t>
            </a:r>
            <a:r>
              <a:rPr lang="en-US" dirty="0">
                <a:latin typeface="Calibri"/>
                <a:cs typeface="Calibri"/>
              </a:rPr>
              <a:t> character of the column password an 'b'? --&gt; </a:t>
            </a:r>
            <a:r>
              <a:rPr lang="en-US" b="1" dirty="0">
                <a:latin typeface="Calibri"/>
                <a:cs typeface="Calibri"/>
              </a:rPr>
              <a:t>yes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Is the </a:t>
            </a:r>
            <a:r>
              <a:rPr lang="en-US" b="1" dirty="0">
                <a:latin typeface="Calibri"/>
                <a:cs typeface="Calibri"/>
              </a:rPr>
              <a:t>second</a:t>
            </a:r>
            <a:r>
              <a:rPr lang="en-US" dirty="0">
                <a:latin typeface="Calibri"/>
                <a:cs typeface="Calibri"/>
              </a:rPr>
              <a:t> character of the column password an 'a'? --&gt; </a:t>
            </a:r>
            <a:r>
              <a:rPr lang="en-US" b="1" dirty="0">
                <a:latin typeface="Calibri"/>
                <a:cs typeface="Calibri"/>
              </a:rPr>
              <a:t>yes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...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8F80D-FE1E-4A13-95CD-C0556E57C5B4}"/>
              </a:ext>
            </a:extLst>
          </p:cNvPr>
          <p:cNvSpPr txBox="1"/>
          <p:nvPr/>
        </p:nvSpPr>
        <p:spPr>
          <a:xfrm>
            <a:off x="1330779" y="1845129"/>
            <a:ext cx="63436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1 FROM users WHERE username = '</a:t>
            </a:r>
            <a:r>
              <a:rPr lang="en-US">
                <a:solidFill>
                  <a:srgbClr val="C00000"/>
                </a:solidFill>
                <a:latin typeface="Consolas"/>
              </a:rPr>
              <a:t>$input</a:t>
            </a:r>
            <a:r>
              <a:rPr lang="en-US">
                <a:latin typeface="Consolas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527751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general method to correctly craft an exploit is the following: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a payload that returns true/false based </a:t>
            </a:r>
            <a:r>
              <a:rPr lang="en-US" b="1" i="1" dirty="0">
                <a:latin typeface="Calibri"/>
                <a:cs typeface="Calibri"/>
              </a:rPr>
              <a:t>only on </a:t>
            </a:r>
            <a:r>
              <a:rPr lang="en-US" dirty="0">
                <a:latin typeface="Calibri"/>
                <a:cs typeface="Calibri"/>
              </a:rPr>
              <a:t>an injected logical expression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how to get the true/false response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Write a simple script to automatize the extraction of the data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01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405512"/>
            <a:ext cx="8153400" cy="3276600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method to correctly craft an exploit, would be the following: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a payload that returns true/false based </a:t>
            </a:r>
            <a:r>
              <a:rPr lang="en-US" b="1" i="1" dirty="0">
                <a:latin typeface="Calibri"/>
                <a:cs typeface="Calibri"/>
              </a:rPr>
              <a:t>only on </a:t>
            </a:r>
            <a:r>
              <a:rPr lang="en-US" dirty="0">
                <a:latin typeface="Calibri"/>
                <a:cs typeface="Calibri"/>
              </a:rPr>
              <a:t>an injected logical expression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a way to get the true/false response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Write a simple script to to automatize the extraction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C0AAB-34FD-44AE-8F38-12806A3C1E07}"/>
              </a:ext>
            </a:extLst>
          </p:cNvPr>
          <p:cNvSpPr/>
          <p:nvPr/>
        </p:nvSpPr>
        <p:spPr>
          <a:xfrm>
            <a:off x="489860" y="1420586"/>
            <a:ext cx="8123461" cy="84636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E88C5-76D5-4C54-B550-383C4E5FBD6A}"/>
              </a:ext>
            </a:extLst>
          </p:cNvPr>
          <p:cNvSpPr/>
          <p:nvPr/>
        </p:nvSpPr>
        <p:spPr>
          <a:xfrm>
            <a:off x="1004208" y="3181350"/>
            <a:ext cx="7135583" cy="84636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94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2A3F-3AA1-46D0-B042-1B9D2FFB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8775-C7A6-41F2-A400-76C4C9B1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8344E-A930-4272-A6DA-E9EDB97AE1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first point can be achieved by using some logic operators. Take the following query: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It is possible to have this query returning something or not by injecting an </a:t>
            </a:r>
            <a:r>
              <a:rPr lang="en-US" b="1" dirty="0">
                <a:latin typeface="Calibri"/>
                <a:cs typeface="Calibri"/>
              </a:rPr>
              <a:t>AND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60F14-F0DB-4933-8102-EB812680B7A0}"/>
              </a:ext>
            </a:extLst>
          </p:cNvPr>
          <p:cNvSpPr txBox="1"/>
          <p:nvPr/>
        </p:nvSpPr>
        <p:spPr>
          <a:xfrm>
            <a:off x="2302329" y="2310493"/>
            <a:ext cx="4767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SELECT * FROM posts </a:t>
            </a:r>
            <a:r>
              <a:rPr lang="en-US"/>
              <a:t>WHERE id = </a:t>
            </a:r>
            <a:r>
              <a:rPr lang="en-US">
                <a:solidFill>
                  <a:srgbClr val="C00000"/>
                </a:solidFill>
              </a:rPr>
              <a:t>$input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5AD78-98D1-43EE-93E1-90E2B7334704}"/>
              </a:ext>
            </a:extLst>
          </p:cNvPr>
          <p:cNvSpPr txBox="1"/>
          <p:nvPr/>
        </p:nvSpPr>
        <p:spPr>
          <a:xfrm>
            <a:off x="979715" y="3788229"/>
            <a:ext cx="6090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SELECT * FROM posts WHERE id = </a:t>
            </a:r>
            <a:r>
              <a:rPr lang="en-US" dirty="0">
                <a:solidFill>
                  <a:srgbClr val="C00000"/>
                </a:solidFill>
              </a:rPr>
              <a:t>1 AND (expression) = 1</a:t>
            </a:r>
          </a:p>
        </p:txBody>
      </p:sp>
    </p:spTree>
    <p:extLst>
      <p:ext uri="{BB962C8B-B14F-4D97-AF65-F5344CB8AC3E}">
        <p14:creationId xmlns:p14="http://schemas.microsoft.com/office/powerpoint/2010/main" val="12464714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2A3F-3AA1-46D0-B042-1B9D2FFB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8775-C7A6-41F2-A400-76C4C9B1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8344E-A930-4272-A6DA-E9EDB97AE1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Then it is possible to compare the 1 with the return value of an inject query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In this way, the whole query will return something </a:t>
            </a:r>
            <a:r>
              <a:rPr lang="en-US" b="1" dirty="0">
                <a:latin typeface="Calibri"/>
                <a:cs typeface="Calibri"/>
              </a:rPr>
              <a:t>if and only if the injected query returns something</a:t>
            </a:r>
            <a:r>
              <a:rPr lang="en-US" dirty="0">
                <a:latin typeface="Calibri"/>
                <a:cs typeface="Calibri"/>
              </a:rPr>
              <a:t>. In this case the injected SELECT query </a:t>
            </a:r>
            <a:r>
              <a:rPr lang="en-US" b="1" dirty="0">
                <a:latin typeface="Calibri"/>
                <a:cs typeface="Calibri"/>
              </a:rPr>
              <a:t>has full control on the returned value of the whole query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60F14-F0DB-4933-8102-EB812680B7A0}"/>
              </a:ext>
            </a:extLst>
          </p:cNvPr>
          <p:cNvSpPr txBox="1"/>
          <p:nvPr/>
        </p:nvSpPr>
        <p:spPr>
          <a:xfrm>
            <a:off x="969131" y="2278743"/>
            <a:ext cx="71065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* FROM posts WHERE id = 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 AND (select 1 where expression) = 1</a:t>
            </a:r>
          </a:p>
        </p:txBody>
      </p:sp>
    </p:spTree>
    <p:extLst>
      <p:ext uri="{BB962C8B-B14F-4D97-AF65-F5344CB8AC3E}">
        <p14:creationId xmlns:p14="http://schemas.microsoft.com/office/powerpoint/2010/main" val="2170160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2A3F-3AA1-46D0-B042-1B9D2FFB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8775-C7A6-41F2-A400-76C4C9B1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8344E-A930-4272-A6DA-E9EDB97AE1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Finally, we need to compare the character at the position </a:t>
            </a:r>
            <a:r>
              <a:rPr lang="en-US" i="1" dirty="0">
                <a:latin typeface="Calibri"/>
                <a:cs typeface="Calibri"/>
              </a:rPr>
              <a:t>n</a:t>
            </a:r>
            <a:r>
              <a:rPr lang="en-US" dirty="0">
                <a:latin typeface="Calibri"/>
                <a:cs typeface="Calibri"/>
              </a:rPr>
              <a:t> with a </a:t>
            </a:r>
            <a:r>
              <a:rPr lang="en-US" b="1" dirty="0">
                <a:latin typeface="Calibri"/>
                <a:cs typeface="Calibri"/>
              </a:rPr>
              <a:t>guess</a:t>
            </a:r>
            <a:r>
              <a:rPr lang="en-US" dirty="0">
                <a:latin typeface="Calibri"/>
                <a:cs typeface="Calibri"/>
              </a:rPr>
              <a:t>. There are many  ways to do this. In MySQL the most convenient ones are: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The function </a:t>
            </a:r>
            <a:r>
              <a:rPr lang="en-US" b="1" dirty="0">
                <a:latin typeface="Calibri"/>
                <a:cs typeface="Calibri"/>
              </a:rPr>
              <a:t>SUBSTR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The</a:t>
            </a:r>
            <a:r>
              <a:rPr lang="en-US" b="1" dirty="0">
                <a:latin typeface="Calibri"/>
                <a:cs typeface="Calibri"/>
              </a:rPr>
              <a:t> LIKE </a:t>
            </a:r>
            <a:r>
              <a:rPr lang="en-US" dirty="0">
                <a:latin typeface="Calibri"/>
                <a:cs typeface="Calibri"/>
              </a:rPr>
              <a:t>operator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8683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074B-1A62-43AD-B572-39CE7CD95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DCE966-E8B4-4A14-ADAB-43EF1E10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816DF-FFDD-429F-AEAF-B3DEDFC04C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SUBSTR </a:t>
            </a:r>
            <a:r>
              <a:rPr lang="en-US" sz="2000" dirty="0">
                <a:latin typeface="Calibri"/>
                <a:cs typeface="Calibri"/>
              </a:rPr>
              <a:t>is defined as follows:</a:t>
            </a:r>
          </a:p>
          <a:p>
            <a:endParaRPr lang="en-US" sz="2000" dirty="0"/>
          </a:p>
          <a:p>
            <a:r>
              <a:rPr lang="en-US" sz="2000" dirty="0">
                <a:latin typeface="Calibri"/>
                <a:cs typeface="Calibri"/>
              </a:rPr>
              <a:t>For example, in the query</a:t>
            </a:r>
          </a:p>
          <a:p>
            <a:endParaRPr lang="en-US" sz="2000" dirty="0"/>
          </a:p>
          <a:p>
            <a:r>
              <a:rPr lang="en-US" sz="2000">
                <a:latin typeface="Calibri"/>
                <a:cs typeface="Calibri"/>
              </a:rPr>
              <a:t>It is possible to inject the following payload to check if the character at the </a:t>
            </a:r>
            <a:r>
              <a:rPr lang="en-US" sz="2000" dirty="0">
                <a:latin typeface="Calibri"/>
                <a:cs typeface="Calibri"/>
              </a:rPr>
              <a:t>position </a:t>
            </a:r>
            <a:r>
              <a:rPr lang="en-US" sz="2000" i="1" dirty="0">
                <a:latin typeface="Calibri"/>
                <a:cs typeface="Calibri"/>
              </a:rPr>
              <a:t>4</a:t>
            </a:r>
            <a:r>
              <a:rPr lang="en-US" sz="2000">
                <a:latin typeface="Calibri"/>
                <a:cs typeface="Calibri"/>
              </a:rPr>
              <a:t> of the password of the user with </a:t>
            </a:r>
            <a:r>
              <a:rPr lang="en-US" sz="2000" i="1">
                <a:latin typeface="Calibri"/>
                <a:cs typeface="Calibri"/>
              </a:rPr>
              <a:t>id =1</a:t>
            </a:r>
            <a:r>
              <a:rPr lang="en-US" sz="2000">
                <a:latin typeface="Calibri"/>
                <a:cs typeface="Calibri"/>
              </a:rPr>
              <a:t> is an </a:t>
            </a:r>
            <a:r>
              <a:rPr lang="en-US" sz="2000" i="1" dirty="0">
                <a:latin typeface="Calibri"/>
                <a:cs typeface="Calibri"/>
              </a:rPr>
              <a:t>x</a:t>
            </a:r>
            <a:endParaRPr lang="en-US" sz="2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D4D59-D5D8-436A-B13E-19EE688B1A19}"/>
              </a:ext>
            </a:extLst>
          </p:cNvPr>
          <p:cNvSpPr txBox="1"/>
          <p:nvPr/>
        </p:nvSpPr>
        <p:spPr>
          <a:xfrm>
            <a:off x="2743200" y="1755321"/>
            <a:ext cx="3657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cs typeface="Calibri"/>
              </a:rPr>
              <a:t>SUBSTR(</a:t>
            </a:r>
            <a:r>
              <a:rPr lang="en-US" i="1">
                <a:latin typeface="Calibri"/>
                <a:cs typeface="Calibri"/>
              </a:rPr>
              <a:t>string</a:t>
            </a:r>
            <a:r>
              <a:rPr lang="en-US">
                <a:latin typeface="Calibri"/>
                <a:cs typeface="Calibri"/>
              </a:rPr>
              <a:t>, </a:t>
            </a:r>
            <a:r>
              <a:rPr lang="en-US" i="1">
                <a:latin typeface="Calibri"/>
                <a:cs typeface="Calibri"/>
              </a:rPr>
              <a:t>start</a:t>
            </a:r>
            <a:r>
              <a:rPr lang="en-US">
                <a:latin typeface="Calibri"/>
                <a:cs typeface="Calibri"/>
              </a:rPr>
              <a:t>, </a:t>
            </a:r>
            <a:r>
              <a:rPr lang="en-US" i="1">
                <a:latin typeface="Calibri"/>
                <a:cs typeface="Calibri"/>
              </a:rPr>
              <a:t>length</a:t>
            </a:r>
            <a:r>
              <a:rPr lang="en-US">
                <a:latin typeface="Calibri"/>
                <a:cs typeface="Calibri"/>
              </a:rPr>
              <a:t>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64635-9BAE-4A49-8BC9-DF0DDEF58621}"/>
              </a:ext>
            </a:extLst>
          </p:cNvPr>
          <p:cNvSpPr txBox="1"/>
          <p:nvPr/>
        </p:nvSpPr>
        <p:spPr>
          <a:xfrm>
            <a:off x="959304" y="3694339"/>
            <a:ext cx="73233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* FROM posts WHERE id=</a:t>
            </a:r>
            <a:r>
              <a:rPr lang="en-US" dirty="0">
                <a:solidFill>
                  <a:srgbClr val="C00000"/>
                </a:solidFill>
                <a:latin typeface="Consolas"/>
              </a:rPr>
              <a:t>1 AND (SELECT 1 FROM users </a:t>
            </a:r>
            <a:r>
              <a:rPr lang="en-US">
                <a:solidFill>
                  <a:srgbClr val="C00000"/>
                </a:solidFill>
                <a:latin typeface="Consolas"/>
              </a:rPr>
              <a:t>WHERE id=1 AND </a:t>
            </a:r>
            <a:r>
              <a:rPr lang="en-US">
                <a:solidFill>
                  <a:srgbClr val="C00000"/>
                </a:solidFill>
                <a:latin typeface="Consolas"/>
                <a:cs typeface="Calibri"/>
              </a:rPr>
              <a:t>SUBSTR(password, 4, 1) = 'x') = 1</a:t>
            </a:r>
            <a:endParaRPr lang="en-US">
              <a:solidFill>
                <a:srgbClr val="C00000"/>
              </a:solidFill>
              <a:latin typeface="Consolas"/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4571E-75ED-4CF6-9F2A-79AD8E2A8248}"/>
              </a:ext>
            </a:extLst>
          </p:cNvPr>
          <p:cNvSpPr txBox="1"/>
          <p:nvPr/>
        </p:nvSpPr>
        <p:spPr>
          <a:xfrm>
            <a:off x="2073730" y="2514600"/>
            <a:ext cx="46862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SELECT * FROM posts WHERE id=</a:t>
            </a:r>
            <a:r>
              <a:rPr lang="en-US">
                <a:solidFill>
                  <a:srgbClr val="C00000"/>
                </a:solidFill>
                <a:latin typeface="Consolas"/>
              </a:rPr>
              <a:t>$input</a:t>
            </a:r>
          </a:p>
        </p:txBody>
      </p:sp>
    </p:spTree>
    <p:extLst>
      <p:ext uri="{BB962C8B-B14F-4D97-AF65-F5344CB8AC3E}">
        <p14:creationId xmlns:p14="http://schemas.microsoft.com/office/powerpoint/2010/main" val="632513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2FB4-E33F-4F6F-B5C9-1F093887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2A626-151F-4A43-ADE5-EE5C0F45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A6E33-FC40-4216-9C79-B449A7C4CD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</a:t>
            </a:r>
            <a:r>
              <a:rPr lang="en-US" b="1" dirty="0">
                <a:latin typeface="Calibri"/>
                <a:cs typeface="Calibri"/>
              </a:rPr>
              <a:t>LIKE </a:t>
            </a:r>
            <a:r>
              <a:rPr lang="en-US" dirty="0">
                <a:latin typeface="Calibri"/>
                <a:cs typeface="Calibri"/>
              </a:rPr>
              <a:t>operator is used normally to search for patterns in strings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It uses </a:t>
            </a:r>
            <a:r>
              <a:rPr lang="en-US" b="1" dirty="0">
                <a:latin typeface="Calibri"/>
                <a:cs typeface="Calibri"/>
              </a:rPr>
              <a:t>WILDCARDS</a:t>
            </a:r>
            <a:r>
              <a:rPr lang="en-US" dirty="0">
                <a:latin typeface="Calibri"/>
                <a:cs typeface="Calibri"/>
              </a:rPr>
              <a:t>:</a:t>
            </a:r>
          </a:p>
          <a:p>
            <a:pPr lvl="1"/>
            <a:r>
              <a:rPr lang="en-US" i="1" dirty="0">
                <a:latin typeface="Calibri"/>
                <a:cs typeface="Calibri"/>
              </a:rPr>
              <a:t>%</a:t>
            </a:r>
            <a:r>
              <a:rPr lang="en-US" dirty="0">
                <a:latin typeface="Calibri"/>
                <a:cs typeface="Calibri"/>
              </a:rPr>
              <a:t> : that will match one or more characters</a:t>
            </a:r>
          </a:p>
          <a:p>
            <a:pPr lvl="1"/>
            <a:r>
              <a:rPr lang="en-US" i="1" dirty="0">
                <a:latin typeface="Calibri"/>
                <a:cs typeface="Calibri"/>
              </a:rPr>
              <a:t>?, _</a:t>
            </a:r>
            <a:r>
              <a:rPr lang="en-US" dirty="0">
                <a:latin typeface="Calibri"/>
                <a:cs typeface="Calibri"/>
              </a:rPr>
              <a:t> (depending on the DBMS) : that will match one character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937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2FB4-E33F-4F6F-B5C9-1F093887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2A626-151F-4A43-ADE5-EE5C0F45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A6E33-FC40-4216-9C79-B449A7C4CD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For example: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'</a:t>
            </a:r>
            <a:r>
              <a:rPr lang="en-US" dirty="0" err="1">
                <a:latin typeface="Calibri"/>
                <a:cs typeface="Calibri"/>
              </a:rPr>
              <a:t>foobar</a:t>
            </a:r>
            <a:r>
              <a:rPr lang="en-US" dirty="0">
                <a:latin typeface="Calibri"/>
                <a:cs typeface="Calibri"/>
              </a:rPr>
              <a:t>' LIKE 'foo'    	--&gt; </a:t>
            </a:r>
            <a:r>
              <a:rPr lang="en-US" b="1" dirty="0">
                <a:latin typeface="Calibri"/>
                <a:cs typeface="Calibri"/>
              </a:rPr>
              <a:t>false </a:t>
            </a:r>
            <a:endParaRPr lang="en-US" b="1" dirty="0"/>
          </a:p>
          <a:p>
            <a:pPr lvl="1"/>
            <a:r>
              <a:rPr lang="en-US" dirty="0">
                <a:latin typeface="Calibri"/>
                <a:cs typeface="Calibri"/>
              </a:rPr>
              <a:t>'</a:t>
            </a:r>
            <a:r>
              <a:rPr lang="en-US" dirty="0" err="1">
                <a:latin typeface="Calibri"/>
                <a:cs typeface="Calibri"/>
              </a:rPr>
              <a:t>foobar</a:t>
            </a:r>
            <a:r>
              <a:rPr lang="en-US" dirty="0">
                <a:latin typeface="Calibri"/>
                <a:cs typeface="Calibri"/>
              </a:rPr>
              <a:t>' LIKE 'foo%’	--&gt; </a:t>
            </a:r>
            <a:r>
              <a:rPr lang="en-US" b="1" dirty="0">
                <a:latin typeface="Calibri"/>
                <a:cs typeface="Calibri"/>
              </a:rPr>
              <a:t>true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'</a:t>
            </a:r>
            <a:r>
              <a:rPr lang="en-US" dirty="0" err="1">
                <a:latin typeface="Calibri"/>
                <a:cs typeface="Calibri"/>
              </a:rPr>
              <a:t>foobar</a:t>
            </a:r>
            <a:r>
              <a:rPr lang="en-US" dirty="0">
                <a:latin typeface="Calibri"/>
                <a:cs typeface="Calibri"/>
              </a:rPr>
              <a:t>' LIKE '%o%’	--&gt; </a:t>
            </a:r>
            <a:r>
              <a:rPr lang="en-US" b="1" dirty="0">
                <a:latin typeface="Calibri"/>
                <a:cs typeface="Calibri"/>
              </a:rPr>
              <a:t>true 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'</a:t>
            </a:r>
            <a:r>
              <a:rPr lang="en-US" dirty="0" err="1">
                <a:latin typeface="Calibri"/>
                <a:cs typeface="Calibri"/>
              </a:rPr>
              <a:t>foobar</a:t>
            </a:r>
            <a:r>
              <a:rPr lang="en-US" dirty="0">
                <a:latin typeface="Calibri"/>
                <a:cs typeface="Calibri"/>
              </a:rPr>
              <a:t>' LIKE '</a:t>
            </a:r>
            <a:r>
              <a:rPr lang="en-US" dirty="0" err="1">
                <a:latin typeface="Calibri"/>
                <a:cs typeface="Calibri"/>
              </a:rPr>
              <a:t>fooba</a:t>
            </a:r>
            <a:r>
              <a:rPr lang="en-US" dirty="0">
                <a:latin typeface="Calibri"/>
                <a:cs typeface="Calibri"/>
              </a:rPr>
              <a:t>_’ 	--&gt; </a:t>
            </a:r>
            <a:r>
              <a:rPr lang="en-US" b="1" dirty="0">
                <a:latin typeface="Calibri"/>
                <a:cs typeface="Calibri"/>
              </a:rPr>
              <a:t>true</a:t>
            </a:r>
          </a:p>
          <a:p>
            <a:r>
              <a:rPr lang="en-US" dirty="0">
                <a:latin typeface="Calibri"/>
                <a:cs typeface="Calibri"/>
              </a:rPr>
              <a:t>Note that </a:t>
            </a:r>
            <a:r>
              <a:rPr lang="en-US" b="1" dirty="0">
                <a:latin typeface="Calibri"/>
                <a:cs typeface="Calibri"/>
              </a:rPr>
              <a:t>LIKE </a:t>
            </a:r>
            <a:r>
              <a:rPr lang="en-US" dirty="0">
                <a:latin typeface="Calibri"/>
                <a:cs typeface="Calibri"/>
              </a:rPr>
              <a:t>is </a:t>
            </a:r>
            <a:r>
              <a:rPr lang="en-US" u="sng" dirty="0">
                <a:latin typeface="Calibri"/>
                <a:cs typeface="Calibri"/>
              </a:rPr>
              <a:t>case </a:t>
            </a:r>
            <a:r>
              <a:rPr lang="en-US" u="sng" dirty="0" err="1">
                <a:latin typeface="Calibri"/>
                <a:cs typeface="Calibri"/>
              </a:rPr>
              <a:t>insentive</a:t>
            </a:r>
            <a:r>
              <a:rPr lang="en-US" u="sng" dirty="0">
                <a:latin typeface="Calibri"/>
                <a:cs typeface="Calibri"/>
              </a:rPr>
              <a:t> in MySQL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'</a:t>
            </a:r>
            <a:r>
              <a:rPr lang="en-US" dirty="0" err="1">
                <a:latin typeface="Calibri"/>
                <a:cs typeface="Calibri"/>
              </a:rPr>
              <a:t>foobar</a:t>
            </a:r>
            <a:r>
              <a:rPr lang="en-US" dirty="0">
                <a:latin typeface="Calibri"/>
                <a:cs typeface="Calibri"/>
              </a:rPr>
              <a:t>' LIKE 'FOOBAR’ 	--&gt; true</a:t>
            </a:r>
            <a:endParaRPr lang="en-US" u="sng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24723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E9D9-2870-40C3-B8E4-2D85AEAA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209EE-E35C-420F-9FCD-48AA718B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40836-3C79-4B07-894A-ADFDCD5B32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And in </a:t>
            </a:r>
            <a:r>
              <a:rPr lang="en-US">
                <a:latin typeface="Calibri"/>
                <a:cs typeface="Calibri"/>
              </a:rPr>
              <a:t>SQL</a:t>
            </a:r>
            <a:r>
              <a:rPr lang="en-US" dirty="0">
                <a:latin typeface="Calibri"/>
                <a:cs typeface="Calibri"/>
              </a:rPr>
              <a:t>: 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'a%') = 1</a:t>
            </a:r>
            <a:endParaRPr lang="en-US" sz="1800" dirty="0"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'b%') = 1</a:t>
            </a:r>
            <a:endParaRPr lang="en-US" sz="1800" dirty="0"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</a:t>
            </a:r>
            <a:r>
              <a:rPr lang="en-US" sz="1800" err="1">
                <a:solidFill>
                  <a:srgbClr val="C00000"/>
                </a:solidFill>
                <a:latin typeface="Consolas"/>
                <a:cs typeface="Calibri"/>
              </a:rPr>
              <a:t>ba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%') = 1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'bb%') = 1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</a:t>
            </a:r>
            <a:r>
              <a:rPr lang="en-US" sz="1800" err="1">
                <a:solidFill>
                  <a:srgbClr val="C00000"/>
                </a:solidFill>
                <a:latin typeface="Consolas"/>
                <a:cs typeface="Calibri"/>
              </a:rPr>
              <a:t>bc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%') = 1</a:t>
            </a:r>
          </a:p>
        </p:txBody>
      </p:sp>
      <p:pic>
        <p:nvPicPr>
          <p:cNvPr id="5" name="Graphic 5" descr="Close">
            <a:extLst>
              <a:ext uri="{FF2B5EF4-FFF2-40B4-BE49-F238E27FC236}">
                <a16:creationId xmlns:a16="http://schemas.microsoft.com/office/drawing/2014/main" id="{9DEDE7B6-2C00-4AF7-BB1C-F723EE89B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450" y="2114549"/>
            <a:ext cx="253094" cy="253094"/>
          </a:xfrm>
          <a:prstGeom prst="rect">
            <a:avLst/>
          </a:prstGeom>
        </p:spPr>
      </p:pic>
      <p:pic>
        <p:nvPicPr>
          <p:cNvPr id="7" name="Graphic 5" descr="Close">
            <a:extLst>
              <a:ext uri="{FF2B5EF4-FFF2-40B4-BE49-F238E27FC236}">
                <a16:creationId xmlns:a16="http://schemas.microsoft.com/office/drawing/2014/main" id="{1D6BAB1A-A64A-43EF-B9D6-CCE465710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3224892"/>
            <a:ext cx="253094" cy="253094"/>
          </a:xfrm>
          <a:prstGeom prst="rect">
            <a:avLst/>
          </a:prstGeom>
        </p:spPr>
      </p:pic>
      <p:pic>
        <p:nvPicPr>
          <p:cNvPr id="8" name="Graphic 5" descr="Close">
            <a:extLst>
              <a:ext uri="{FF2B5EF4-FFF2-40B4-BE49-F238E27FC236}">
                <a16:creationId xmlns:a16="http://schemas.microsoft.com/office/drawing/2014/main" id="{F2968B68-5A7F-49C0-B311-1463E96B7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3763734"/>
            <a:ext cx="253094" cy="253094"/>
          </a:xfrm>
          <a:prstGeom prst="rect">
            <a:avLst/>
          </a:prstGeom>
        </p:spPr>
      </p:pic>
      <p:pic>
        <p:nvPicPr>
          <p:cNvPr id="10" name="Graphic 10" descr="Checkmark">
            <a:extLst>
              <a:ext uri="{FF2B5EF4-FFF2-40B4-BE49-F238E27FC236}">
                <a16:creationId xmlns:a16="http://schemas.microsoft.com/office/drawing/2014/main" id="{9C43C17D-CA45-48C6-8CF9-56E627529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6450" y="2686049"/>
            <a:ext cx="253095" cy="261259"/>
          </a:xfrm>
          <a:prstGeom prst="rect">
            <a:avLst/>
          </a:prstGeom>
        </p:spPr>
      </p:pic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527807EE-E682-4D1B-B1D3-17964CE9F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02577"/>
            <a:ext cx="253095" cy="26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22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E9D9-2870-40C3-B8E4-2D85AEAA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209EE-E35C-420F-9FCD-48AA718B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40836-3C79-4B07-894A-ADFDCD5B32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>
                <a:latin typeface="Calibri"/>
                <a:cs typeface="Calibri"/>
              </a:rPr>
              <a:t>And in SQL</a:t>
            </a:r>
            <a:r>
              <a:rPr lang="en-US" dirty="0">
                <a:latin typeface="Calibri"/>
                <a:cs typeface="Calibri"/>
              </a:rPr>
              <a:t>: 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'a%') = 1</a:t>
            </a:r>
            <a:endParaRPr lang="en-US" sz="1800" dirty="0"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'b%') = 1</a:t>
            </a:r>
            <a:endParaRPr lang="en-US" sz="1800" dirty="0"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</a:t>
            </a:r>
            <a:r>
              <a:rPr lang="en-US" sz="1800" err="1">
                <a:solidFill>
                  <a:srgbClr val="C00000"/>
                </a:solidFill>
                <a:latin typeface="Consolas"/>
                <a:cs typeface="Calibri"/>
              </a:rPr>
              <a:t>ba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%') = 1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'bb%') = 1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onsolas"/>
                <a:cs typeface="Calibri"/>
              </a:rPr>
              <a:t>SELECT * FROM posts WHERE id=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1 AND (SELECT 1 FROM users WHERE id=1 AND password LIKE '</a:t>
            </a:r>
            <a:r>
              <a:rPr lang="en-US" sz="1800" err="1">
                <a:solidFill>
                  <a:srgbClr val="C00000"/>
                </a:solidFill>
                <a:latin typeface="Consolas"/>
                <a:cs typeface="Calibri"/>
              </a:rPr>
              <a:t>bc</a:t>
            </a:r>
            <a:r>
              <a:rPr lang="en-US" sz="1800" dirty="0">
                <a:solidFill>
                  <a:srgbClr val="C00000"/>
                </a:solidFill>
                <a:latin typeface="Consolas"/>
                <a:cs typeface="Calibri"/>
              </a:rPr>
              <a:t>%') = 1</a:t>
            </a:r>
          </a:p>
        </p:txBody>
      </p:sp>
      <p:pic>
        <p:nvPicPr>
          <p:cNvPr id="5" name="Graphic 5" descr="Close">
            <a:extLst>
              <a:ext uri="{FF2B5EF4-FFF2-40B4-BE49-F238E27FC236}">
                <a16:creationId xmlns:a16="http://schemas.microsoft.com/office/drawing/2014/main" id="{9DEDE7B6-2C00-4AF7-BB1C-F723EE89B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450" y="2114549"/>
            <a:ext cx="253094" cy="253094"/>
          </a:xfrm>
          <a:prstGeom prst="rect">
            <a:avLst/>
          </a:prstGeom>
        </p:spPr>
      </p:pic>
      <p:pic>
        <p:nvPicPr>
          <p:cNvPr id="7" name="Graphic 5" descr="Close">
            <a:extLst>
              <a:ext uri="{FF2B5EF4-FFF2-40B4-BE49-F238E27FC236}">
                <a16:creationId xmlns:a16="http://schemas.microsoft.com/office/drawing/2014/main" id="{1D6BAB1A-A64A-43EF-B9D6-CCE465710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3224892"/>
            <a:ext cx="253094" cy="253094"/>
          </a:xfrm>
          <a:prstGeom prst="rect">
            <a:avLst/>
          </a:prstGeom>
        </p:spPr>
      </p:pic>
      <p:pic>
        <p:nvPicPr>
          <p:cNvPr id="8" name="Graphic 5" descr="Close">
            <a:extLst>
              <a:ext uri="{FF2B5EF4-FFF2-40B4-BE49-F238E27FC236}">
                <a16:creationId xmlns:a16="http://schemas.microsoft.com/office/drawing/2014/main" id="{F2968B68-5A7F-49C0-B311-1463E96B7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3763734"/>
            <a:ext cx="253094" cy="253094"/>
          </a:xfrm>
          <a:prstGeom prst="rect">
            <a:avLst/>
          </a:prstGeom>
        </p:spPr>
      </p:pic>
      <p:pic>
        <p:nvPicPr>
          <p:cNvPr id="10" name="Graphic 10" descr="Checkmark">
            <a:extLst>
              <a:ext uri="{FF2B5EF4-FFF2-40B4-BE49-F238E27FC236}">
                <a16:creationId xmlns:a16="http://schemas.microsoft.com/office/drawing/2014/main" id="{9C43C17D-CA45-48C6-8CF9-56E627529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6450" y="2686049"/>
            <a:ext cx="253095" cy="261259"/>
          </a:xfrm>
          <a:prstGeom prst="rect">
            <a:avLst/>
          </a:prstGeom>
        </p:spPr>
      </p:pic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527807EE-E682-4D1B-B1D3-17964CE9F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02577"/>
            <a:ext cx="253095" cy="2612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E57241-31ED-46A9-A4C3-7C87D3ED7680}"/>
              </a:ext>
            </a:extLst>
          </p:cNvPr>
          <p:cNvSpPr txBox="1"/>
          <p:nvPr/>
        </p:nvSpPr>
        <p:spPr>
          <a:xfrm>
            <a:off x="6315075" y="44372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Password starts with 'bc'!</a:t>
            </a:r>
          </a:p>
        </p:txBody>
      </p:sp>
    </p:spTree>
    <p:extLst>
      <p:ext uri="{BB962C8B-B14F-4D97-AF65-F5344CB8AC3E}">
        <p14:creationId xmlns:p14="http://schemas.microsoft.com/office/powerpoint/2010/main" val="25259854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>
                <a:latin typeface="Calibri"/>
                <a:cs typeface="Calibri"/>
              </a:rPr>
              <a:t>The method to correctly craft an exploit, would be the following: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>
                <a:latin typeface="Calibri"/>
                <a:cs typeface="Calibri"/>
              </a:rPr>
              <a:t>Find a payload that returns true/false based </a:t>
            </a:r>
            <a:r>
              <a:rPr lang="en-US" b="1" i="1">
                <a:latin typeface="Calibri"/>
                <a:cs typeface="Calibri"/>
              </a:rPr>
              <a:t>only </a:t>
            </a:r>
            <a:r>
              <a:rPr lang="en-US">
                <a:latin typeface="Calibri"/>
                <a:cs typeface="Calibri"/>
              </a:rPr>
              <a:t>by</a:t>
            </a:r>
            <a:r>
              <a:rPr lang="en-US" b="1" i="1" dirty="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 injected logic expression</a:t>
            </a:r>
            <a:endParaRPr lang="en-US"/>
          </a:p>
          <a:p>
            <a:pPr marL="822960" lvl="1" indent="-457200">
              <a:buAutoNum type="arabicPeriod"/>
            </a:pPr>
            <a:r>
              <a:rPr lang="en-US">
                <a:latin typeface="Calibri"/>
                <a:cs typeface="Calibri"/>
              </a:rPr>
              <a:t>Find a way to get the true/false response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>
                <a:latin typeface="Calibri"/>
                <a:cs typeface="Calibri"/>
              </a:rPr>
              <a:t>Write a simple script to to automatize the extraction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C0AAB-34FD-44AE-8F38-12806A3C1E07}"/>
              </a:ext>
            </a:extLst>
          </p:cNvPr>
          <p:cNvSpPr/>
          <p:nvPr/>
        </p:nvSpPr>
        <p:spPr>
          <a:xfrm>
            <a:off x="489860" y="1420586"/>
            <a:ext cx="8123461" cy="16165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E88C5-76D5-4C54-B550-383C4E5FBD6A}"/>
              </a:ext>
            </a:extLst>
          </p:cNvPr>
          <p:cNvSpPr/>
          <p:nvPr/>
        </p:nvSpPr>
        <p:spPr>
          <a:xfrm>
            <a:off x="979716" y="3510643"/>
            <a:ext cx="7135583" cy="44087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33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ECF4-AAA4-40AE-B4F3-7E5F1867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AD8CD-3CBF-4328-B978-B93FA771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C088B-39FC-4734-B335-CD36A99B81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Finding a way to see if the query was successful or not </a:t>
            </a:r>
            <a:r>
              <a:rPr lang="en-US" b="1" dirty="0">
                <a:latin typeface="Calibri"/>
                <a:cs typeface="Calibri"/>
              </a:rPr>
              <a:t>depends entirely on how the application was programmed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In most cases, it is sufficient to make the query return a row as true and nothing as false. Usually this will make some little </a:t>
            </a:r>
            <a:r>
              <a:rPr lang="en-US" b="1" dirty="0">
                <a:latin typeface="Calibri"/>
                <a:cs typeface="Calibri"/>
              </a:rPr>
              <a:t>differences </a:t>
            </a:r>
            <a:r>
              <a:rPr lang="en-US" dirty="0">
                <a:latin typeface="Calibri"/>
                <a:cs typeface="Calibri"/>
              </a:rPr>
              <a:t>in the page that is returned, or will generate an </a:t>
            </a:r>
            <a:r>
              <a:rPr lang="en-US" b="1" dirty="0">
                <a:latin typeface="Calibri"/>
                <a:cs typeface="Calibri"/>
              </a:rPr>
              <a:t>error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Make the query sleep, and observe the </a:t>
            </a:r>
            <a:r>
              <a:rPr lang="en-US" b="1" dirty="0">
                <a:latin typeface="Calibri"/>
                <a:cs typeface="Calibri"/>
              </a:rPr>
              <a:t>loading time</a:t>
            </a:r>
            <a:r>
              <a:rPr lang="en-US" dirty="0">
                <a:latin typeface="Calibri"/>
                <a:cs typeface="Calibri"/>
              </a:rPr>
              <a:t> of the 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43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B0B6-A3FE-41EE-99FA-904575FD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D70A5-7932-4D30-8F33-D36DB3A4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7000B-1AFD-4505-96F2-CD8F95CE6F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It is possible to force the query to take a longer time to complete by using a function like </a:t>
            </a:r>
            <a:r>
              <a:rPr lang="en-US" b="1" dirty="0">
                <a:latin typeface="Calibri"/>
                <a:cs typeface="Calibri"/>
              </a:rPr>
              <a:t>sleep</a:t>
            </a:r>
          </a:p>
          <a:p>
            <a:r>
              <a:rPr lang="en-US" dirty="0">
                <a:latin typeface="Calibri"/>
                <a:cs typeface="Calibri"/>
              </a:rPr>
              <a:t>Time is a powerful tool, because it allows to see and exploit completely invisible SQL Injections</a:t>
            </a:r>
          </a:p>
          <a:p>
            <a:r>
              <a:rPr lang="en-US" dirty="0">
                <a:latin typeface="Calibri"/>
                <a:cs typeface="Calibri"/>
              </a:rPr>
              <a:t>SQL Injections that require this technique to be exploited are called </a:t>
            </a:r>
            <a:r>
              <a:rPr lang="en-US" b="1" dirty="0">
                <a:latin typeface="Calibri"/>
                <a:cs typeface="Calibri"/>
              </a:rPr>
              <a:t>Time-Based SQL Injections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9384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18C9-2629-4388-88CD-A2AA38F3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Blind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A73E4-BC56-4025-81E5-3D672B78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D6FD5-6BE0-49B0-BB99-2995E5C8FF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A query that uses a sleep function conditionally on some logic expression is:</a:t>
            </a:r>
          </a:p>
          <a:p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This query is going to </a:t>
            </a:r>
            <a:r>
              <a:rPr lang="en-US" b="1" dirty="0">
                <a:latin typeface="Calibri"/>
                <a:cs typeface="Calibri"/>
              </a:rPr>
              <a:t>sleep one second</a:t>
            </a:r>
            <a:r>
              <a:rPr lang="en-US" dirty="0">
                <a:latin typeface="Calibri"/>
                <a:cs typeface="Calibri"/>
              </a:rPr>
              <a:t> if the like condition </a:t>
            </a:r>
            <a:r>
              <a:rPr lang="en-US" b="1" dirty="0">
                <a:latin typeface="Calibri"/>
                <a:cs typeface="Calibri"/>
              </a:rPr>
              <a:t>is successful</a:t>
            </a:r>
            <a:endParaRPr lang="en-US" b="1" dirty="0" err="1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B6A4E-BF50-44F7-B3B8-16AB921B657C}"/>
              </a:ext>
            </a:extLst>
          </p:cNvPr>
          <p:cNvSpPr txBox="1"/>
          <p:nvPr/>
        </p:nvSpPr>
        <p:spPr>
          <a:xfrm>
            <a:off x="751116" y="2334986"/>
            <a:ext cx="76825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SELECT sleep(1) FROM secrets WHERE secret LIKE 'a%' LIMIT 1</a:t>
            </a:r>
          </a:p>
        </p:txBody>
      </p:sp>
    </p:spTree>
    <p:extLst>
      <p:ext uri="{BB962C8B-B14F-4D97-AF65-F5344CB8AC3E}">
        <p14:creationId xmlns:p14="http://schemas.microsoft.com/office/powerpoint/2010/main" val="1343641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18C9-2629-4388-88CD-A2AA38F3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Blind SQL injections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A73E4-BC56-4025-81E5-3D672B78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D6FD5-6BE0-49B0-BB99-2995E5C8FF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We can then measure the time the query takes to fully execute and understand if it was successful or not. For example, in pseudo python: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Immagine 8" descr="def inject(q):&#10;  # Function that injects a query into a vulnerable web application&#10;  pass&#10;time_before_request = time.time()&#10;inject(&quot;' or sleep(1) -- &quot;)&#10;if time.time() - time_before_request &gt; 1:&#10;   # match!&#10;else:&#10;   # no match">
            <a:extLst>
              <a:ext uri="{FF2B5EF4-FFF2-40B4-BE49-F238E27FC236}">
                <a16:creationId xmlns:a16="http://schemas.microsoft.com/office/drawing/2014/main" id="{56FE493D-7E45-4990-A62E-72EFD60EF1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687" y="2800350"/>
            <a:ext cx="49366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541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method to correctly craft an exploit, would be the following: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a payload that returns true/false based </a:t>
            </a:r>
            <a:r>
              <a:rPr lang="en-US" b="1" i="1" dirty="0">
                <a:latin typeface="Calibri"/>
                <a:cs typeface="Calibri"/>
              </a:rPr>
              <a:t>only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b="1" i="1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 injected logic expression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Find a way to get the true/false response</a:t>
            </a:r>
            <a:endParaRPr lang="en-US" dirty="0"/>
          </a:p>
          <a:p>
            <a:pPr marL="822960" lvl="1" indent="-457200">
              <a:buAutoNum type="arabicPeriod"/>
            </a:pPr>
            <a:r>
              <a:rPr lang="en-US" dirty="0">
                <a:latin typeface="Calibri"/>
                <a:cs typeface="Calibri"/>
              </a:rPr>
              <a:t>Write a simple script to automatize the extraction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C0AAB-34FD-44AE-8F38-12806A3C1E07}"/>
              </a:ext>
            </a:extLst>
          </p:cNvPr>
          <p:cNvSpPr/>
          <p:nvPr/>
        </p:nvSpPr>
        <p:spPr>
          <a:xfrm>
            <a:off x="489860" y="1420586"/>
            <a:ext cx="8123461" cy="161652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E88C5-76D5-4C54-B550-383C4E5FBD6A}"/>
              </a:ext>
            </a:extLst>
          </p:cNvPr>
          <p:cNvSpPr/>
          <p:nvPr/>
        </p:nvSpPr>
        <p:spPr>
          <a:xfrm>
            <a:off x="906237" y="3069772"/>
            <a:ext cx="7135583" cy="44087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457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51A-E49A-44EC-9286-FA262C92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1BC71-DB2D-4066-A04A-0508C174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74DC6-9EAC-45E7-B429-FE69B9793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script to automatize this attack works as follows:</a:t>
            </a:r>
            <a:endParaRPr lang="en-US" dirty="0"/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latin typeface="Calibri"/>
                <a:cs typeface="Calibri"/>
              </a:rPr>
              <a:t>Scan every position of the data to leak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latin typeface="Calibri"/>
                <a:cs typeface="Calibri"/>
              </a:rPr>
              <a:t>For every position, try every possible character</a:t>
            </a:r>
            <a:endParaRPr lang="en-US" dirty="0"/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latin typeface="Calibri"/>
                <a:cs typeface="Calibri"/>
              </a:rPr>
              <a:t>If there is a match, then the character is leaked and it is possible to go to the next 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6621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51A-E49A-44EC-9286-FA262C92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1BC71-DB2D-4066-A04A-0508C174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74DC6-9EAC-45E7-B429-FE69B9793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pPr marL="457200" indent="-457200"/>
            <a:r>
              <a:rPr lang="en-US">
                <a:latin typeface="Calibri"/>
                <a:cs typeface="Calibri"/>
              </a:rPr>
              <a:t>In (pseudo) python:</a:t>
            </a:r>
            <a:endParaRPr lang="en-US" dirty="0">
              <a:latin typeface="Calibri"/>
              <a:cs typeface="Calibri"/>
            </a:endParaRPr>
          </a:p>
          <a:p>
            <a:pPr marL="457200" indent="-457200"/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634CA-C66A-4620-A0D7-DB2FEA44E7C0}"/>
              </a:ext>
            </a:extLst>
          </p:cNvPr>
          <p:cNvSpPr txBox="1"/>
          <p:nvPr/>
        </p:nvSpPr>
        <p:spPr>
          <a:xfrm>
            <a:off x="832758" y="1877786"/>
            <a:ext cx="79275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</a:rPr>
              <a:t>def run_query(q, i):</a:t>
            </a:r>
          </a:p>
          <a:p>
            <a:r>
              <a:rPr lang="en-US" sz="1600">
                <a:latin typeface="Consolas"/>
              </a:rPr>
              <a:t>    … # a function that will try the character q at the position i</a:t>
            </a:r>
          </a:p>
          <a:p>
            <a:r>
              <a:rPr lang="en-US" sz="1600">
                <a:latin typeface="Consolas"/>
              </a:rPr>
              <a:t>dictionary = string.ascii_letters</a:t>
            </a:r>
          </a:p>
          <a:p>
            <a:r>
              <a:rPr lang="en-US" sz="1600">
                <a:latin typeface="Consolas"/>
              </a:rPr>
              <a:t>leak, index = [], 1</a:t>
            </a:r>
          </a:p>
          <a:p>
            <a:r>
              <a:rPr lang="en-US" sz="1600">
                <a:latin typeface="Consolas"/>
              </a:rPr>
              <a:t>while True:</a:t>
            </a:r>
          </a:p>
          <a:p>
            <a:r>
              <a:rPr lang="en-US" sz="1600">
                <a:latin typeface="Consolas"/>
              </a:rPr>
              <a:t>    for c in dictionary:</a:t>
            </a:r>
          </a:p>
          <a:p>
            <a:r>
              <a:rPr lang="en-US" sz="1600">
                <a:latin typeface="Consolas"/>
              </a:rPr>
              <a:t>        result = run_query(c, index)</a:t>
            </a:r>
          </a:p>
          <a:p>
            <a:r>
              <a:rPr lang="en-US" sz="1600">
                <a:latin typeface="Consolas"/>
              </a:rPr>
              <a:t>        if result:</a:t>
            </a:r>
          </a:p>
          <a:p>
            <a:r>
              <a:rPr lang="en-US" sz="1600">
                <a:latin typeface="Consolas"/>
              </a:rPr>
              <a:t>             leak.append(c)</a:t>
            </a:r>
          </a:p>
          <a:p>
            <a:r>
              <a:rPr lang="en-US" sz="1600">
                <a:latin typeface="Consolas"/>
              </a:rPr>
              <a:t>             index+=1</a:t>
            </a:r>
          </a:p>
          <a:p>
            <a:r>
              <a:rPr lang="en-US" sz="1600">
                <a:latin typeface="Consolas"/>
              </a:rPr>
              <a:t>             break</a:t>
            </a:r>
          </a:p>
        </p:txBody>
      </p:sp>
    </p:spTree>
    <p:extLst>
      <p:ext uri="{BB962C8B-B14F-4D97-AF65-F5344CB8AC3E}">
        <p14:creationId xmlns:p14="http://schemas.microsoft.com/office/powerpoint/2010/main" val="8891654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51A-E49A-44EC-9286-FA262C92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1BC71-DB2D-4066-A04A-0508C174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74DC6-9EAC-45E7-B429-FE69B9793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pPr marL="457200" indent="-457200"/>
            <a:r>
              <a:rPr lang="en-US">
                <a:latin typeface="Calibri"/>
                <a:cs typeface="Calibri"/>
              </a:rPr>
              <a:t>In (pseudo) python:</a:t>
            </a:r>
            <a:endParaRPr lang="en-US" dirty="0">
              <a:latin typeface="Calibri"/>
              <a:cs typeface="Calibri"/>
            </a:endParaRPr>
          </a:p>
          <a:p>
            <a:pPr marL="457200" indent="-457200"/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634CA-C66A-4620-A0D7-DB2FEA44E7C0}"/>
              </a:ext>
            </a:extLst>
          </p:cNvPr>
          <p:cNvSpPr txBox="1"/>
          <p:nvPr/>
        </p:nvSpPr>
        <p:spPr>
          <a:xfrm>
            <a:off x="832758" y="1877786"/>
            <a:ext cx="79275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</a:rPr>
              <a:t>def run_query(q, i):</a:t>
            </a:r>
          </a:p>
          <a:p>
            <a:r>
              <a:rPr lang="en-US" sz="1600">
                <a:latin typeface="Consolas"/>
              </a:rPr>
              <a:t>    … # a function that will try the character q at the position i</a:t>
            </a:r>
          </a:p>
          <a:p>
            <a:r>
              <a:rPr lang="en-US" sz="1600">
                <a:solidFill>
                  <a:srgbClr val="FF0000"/>
                </a:solidFill>
                <a:latin typeface="Consolas"/>
              </a:rPr>
              <a:t>dictionary = string.ascii_letters</a:t>
            </a:r>
          </a:p>
          <a:p>
            <a:r>
              <a:rPr lang="en-US" sz="1600">
                <a:latin typeface="Consolas"/>
              </a:rPr>
              <a:t>leak, index = [], 1</a:t>
            </a:r>
          </a:p>
          <a:p>
            <a:r>
              <a:rPr lang="en-US" sz="1600">
                <a:latin typeface="Consolas"/>
              </a:rPr>
              <a:t>while True:</a:t>
            </a:r>
          </a:p>
          <a:p>
            <a:r>
              <a:rPr lang="en-US" sz="1600">
                <a:latin typeface="Consolas"/>
              </a:rPr>
              <a:t>    for c in dictionary:</a:t>
            </a:r>
          </a:p>
          <a:p>
            <a:r>
              <a:rPr lang="en-US" sz="1600">
                <a:latin typeface="Consolas"/>
              </a:rPr>
              <a:t>        result = run_query(c, index)</a:t>
            </a:r>
          </a:p>
          <a:p>
            <a:r>
              <a:rPr lang="en-US" sz="1600">
                <a:latin typeface="Consolas"/>
              </a:rPr>
              <a:t>        if result:</a:t>
            </a:r>
          </a:p>
          <a:p>
            <a:r>
              <a:rPr lang="en-US" sz="1600">
                <a:latin typeface="Consolas"/>
              </a:rPr>
              <a:t>             leak.append(c)</a:t>
            </a:r>
          </a:p>
          <a:p>
            <a:r>
              <a:rPr lang="en-US" sz="1600">
                <a:latin typeface="Consolas"/>
              </a:rPr>
              <a:t>             index+=1</a:t>
            </a:r>
          </a:p>
          <a:p>
            <a:r>
              <a:rPr lang="en-US" sz="1600">
                <a:latin typeface="Consolas"/>
              </a:rPr>
              <a:t>            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D2703-AB6C-4733-83D3-6B3FB94F4771}"/>
              </a:ext>
            </a:extLst>
          </p:cNvPr>
          <p:cNvSpPr txBox="1"/>
          <p:nvPr/>
        </p:nvSpPr>
        <p:spPr>
          <a:xfrm>
            <a:off x="5388428" y="2637065"/>
            <a:ext cx="3241221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Dictionary will contain every possible character that the data </a:t>
            </a:r>
            <a:r>
              <a:rPr lang="en-US">
                <a:latin typeface="Calibri"/>
                <a:cs typeface="Calibri"/>
              </a:rPr>
              <a:t>we want to leak can contain</a:t>
            </a:r>
          </a:p>
        </p:txBody>
      </p:sp>
    </p:spTree>
    <p:extLst>
      <p:ext uri="{BB962C8B-B14F-4D97-AF65-F5344CB8AC3E}">
        <p14:creationId xmlns:p14="http://schemas.microsoft.com/office/powerpoint/2010/main" val="8006424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51A-E49A-44EC-9286-FA262C92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1BC71-DB2D-4066-A04A-0508C174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74DC6-9EAC-45E7-B429-FE69B9793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pPr marL="457200" indent="-457200"/>
            <a:r>
              <a:rPr lang="en-US">
                <a:latin typeface="Calibri"/>
                <a:cs typeface="Calibri"/>
              </a:rPr>
              <a:t>In (pseudo) python:</a:t>
            </a:r>
            <a:endParaRPr lang="en-US" dirty="0">
              <a:latin typeface="Calibri"/>
              <a:cs typeface="Calibri"/>
            </a:endParaRPr>
          </a:p>
          <a:p>
            <a:pPr marL="457200" indent="-457200"/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634CA-C66A-4620-A0D7-DB2FEA44E7C0}"/>
              </a:ext>
            </a:extLst>
          </p:cNvPr>
          <p:cNvSpPr txBox="1"/>
          <p:nvPr/>
        </p:nvSpPr>
        <p:spPr>
          <a:xfrm>
            <a:off x="832758" y="1877786"/>
            <a:ext cx="79275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</a:rPr>
              <a:t>def run_query(q, i):</a:t>
            </a:r>
          </a:p>
          <a:p>
            <a:r>
              <a:rPr lang="en-US" sz="1600">
                <a:latin typeface="Consolas"/>
              </a:rPr>
              <a:t>    … # a function that will try the character q at the position i</a:t>
            </a:r>
          </a:p>
          <a:p>
            <a:r>
              <a:rPr lang="en-US" sz="1600">
                <a:latin typeface="Consolas"/>
              </a:rPr>
              <a:t>dictionary = string.ascii_letters</a:t>
            </a:r>
          </a:p>
          <a:p>
            <a:r>
              <a:rPr lang="en-US" sz="1600">
                <a:solidFill>
                  <a:schemeClr val="accent2"/>
                </a:solidFill>
                <a:latin typeface="Consolas"/>
              </a:rPr>
              <a:t>leak, index = [], 1</a:t>
            </a:r>
          </a:p>
          <a:p>
            <a:r>
              <a:rPr lang="en-US" sz="1600">
                <a:latin typeface="Consolas"/>
              </a:rPr>
              <a:t>while True:</a:t>
            </a:r>
          </a:p>
          <a:p>
            <a:r>
              <a:rPr lang="en-US" sz="1600">
                <a:latin typeface="Consolas"/>
              </a:rPr>
              <a:t>    for c in dictionary:</a:t>
            </a:r>
          </a:p>
          <a:p>
            <a:r>
              <a:rPr lang="en-US" sz="1600">
                <a:latin typeface="Consolas"/>
              </a:rPr>
              <a:t>        result = run_query(c, index)</a:t>
            </a:r>
          </a:p>
          <a:p>
            <a:r>
              <a:rPr lang="en-US" sz="1600">
                <a:latin typeface="Consolas"/>
              </a:rPr>
              <a:t>        if result:</a:t>
            </a:r>
          </a:p>
          <a:p>
            <a:r>
              <a:rPr lang="en-US" sz="1600">
                <a:latin typeface="Consolas"/>
              </a:rPr>
              <a:t>             leak.append(c)</a:t>
            </a:r>
          </a:p>
          <a:p>
            <a:r>
              <a:rPr lang="en-US" sz="1600">
                <a:latin typeface="Consolas"/>
              </a:rPr>
              <a:t>             index+=1</a:t>
            </a:r>
          </a:p>
          <a:p>
            <a:r>
              <a:rPr lang="en-US" sz="1600">
                <a:latin typeface="Consolas"/>
              </a:rPr>
              <a:t>            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D2703-AB6C-4733-83D3-6B3FB94F4771}"/>
              </a:ext>
            </a:extLst>
          </p:cNvPr>
          <p:cNvSpPr txBox="1"/>
          <p:nvPr/>
        </p:nvSpPr>
        <p:spPr>
          <a:xfrm>
            <a:off x="5388428" y="2637065"/>
            <a:ext cx="3241221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Leak and index are </a:t>
            </a:r>
            <a:r>
              <a:rPr lang="en-US">
                <a:latin typeface="Calibri"/>
                <a:ea typeface="+mn-lt"/>
                <a:cs typeface="+mn-lt"/>
              </a:rPr>
              <a:t>respectively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 data leaked </a:t>
            </a:r>
            <a:r>
              <a:rPr lang="en-US" dirty="0">
                <a:latin typeface="Calibri"/>
                <a:cs typeface="Calibri"/>
              </a:rPr>
              <a:t>and the current position </a:t>
            </a:r>
          </a:p>
        </p:txBody>
      </p:sp>
    </p:spTree>
    <p:extLst>
      <p:ext uri="{BB962C8B-B14F-4D97-AF65-F5344CB8AC3E}">
        <p14:creationId xmlns:p14="http://schemas.microsoft.com/office/powerpoint/2010/main" val="38035729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51A-E49A-44EC-9286-FA262C92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Blind SQL injections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1BC71-DB2D-4066-A04A-0508C174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74DC6-9EAC-45E7-B429-FE69B9793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pPr marL="457200" indent="-457200"/>
            <a:r>
              <a:rPr lang="en-US">
                <a:latin typeface="Calibri"/>
                <a:cs typeface="Calibri"/>
              </a:rPr>
              <a:t>In (pseudo) python:</a:t>
            </a:r>
            <a:endParaRPr lang="en-US" dirty="0">
              <a:latin typeface="Calibri"/>
              <a:cs typeface="Calibri"/>
            </a:endParaRPr>
          </a:p>
          <a:p>
            <a:pPr marL="457200" indent="-457200"/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634CA-C66A-4620-A0D7-DB2FEA44E7C0}"/>
              </a:ext>
            </a:extLst>
          </p:cNvPr>
          <p:cNvSpPr txBox="1"/>
          <p:nvPr/>
        </p:nvSpPr>
        <p:spPr>
          <a:xfrm>
            <a:off x="832758" y="1877786"/>
            <a:ext cx="792752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nsolas"/>
              </a:rPr>
              <a:t>def run_query(q, i):</a:t>
            </a:r>
          </a:p>
          <a:p>
            <a:r>
              <a:rPr lang="en-US" sz="1600">
                <a:latin typeface="Consolas"/>
              </a:rPr>
              <a:t>    … # a function that will try the character q at the position i</a:t>
            </a:r>
          </a:p>
          <a:p>
            <a:r>
              <a:rPr lang="en-US" sz="1600">
                <a:latin typeface="Consolas"/>
              </a:rPr>
              <a:t>dictionary = string.ascii_letters</a:t>
            </a:r>
          </a:p>
          <a:p>
            <a:r>
              <a:rPr lang="en-US" sz="1600">
                <a:latin typeface="Consolas"/>
              </a:rPr>
              <a:t>leak, index = [], 1</a:t>
            </a:r>
          </a:p>
          <a:p>
            <a:r>
              <a:rPr lang="en-US" sz="1600">
                <a:latin typeface="Consolas"/>
              </a:rPr>
              <a:t>while True:</a:t>
            </a:r>
          </a:p>
          <a:p>
            <a:r>
              <a:rPr lang="en-US" sz="1600">
                <a:latin typeface="Consolas"/>
              </a:rPr>
              <a:t>    for c in dictionary:</a:t>
            </a:r>
          </a:p>
          <a:p>
            <a:r>
              <a:rPr lang="en-US" sz="1600" dirty="0">
                <a:latin typeface="Consolas"/>
              </a:rPr>
              <a:t>        </a:t>
            </a:r>
            <a:r>
              <a:rPr lang="en-US" sz="1600">
                <a:solidFill>
                  <a:srgbClr val="C00000"/>
                </a:solidFill>
                <a:latin typeface="Consolas"/>
              </a:rPr>
              <a:t>result = run_query(c, index)</a:t>
            </a:r>
          </a:p>
          <a:p>
            <a:r>
              <a:rPr lang="en-US" sz="1600">
                <a:solidFill>
                  <a:srgbClr val="C00000"/>
                </a:solidFill>
                <a:latin typeface="Consolas"/>
              </a:rPr>
              <a:t>        if result:</a:t>
            </a:r>
          </a:p>
          <a:p>
            <a:r>
              <a:rPr lang="en-US" sz="1600">
                <a:solidFill>
                  <a:srgbClr val="C00000"/>
                </a:solidFill>
                <a:latin typeface="Consolas"/>
              </a:rPr>
              <a:t>             leak.append(c)</a:t>
            </a:r>
          </a:p>
          <a:p>
            <a:r>
              <a:rPr lang="en-US" sz="1600">
                <a:solidFill>
                  <a:srgbClr val="C00000"/>
                </a:solidFill>
                <a:latin typeface="Consolas"/>
              </a:rPr>
              <a:t>             index+=1</a:t>
            </a:r>
          </a:p>
          <a:p>
            <a:r>
              <a:rPr lang="en-US" sz="1600">
                <a:solidFill>
                  <a:srgbClr val="C00000"/>
                </a:solidFill>
                <a:latin typeface="Consolas"/>
              </a:rPr>
              <a:t>            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D2703-AB6C-4733-83D3-6B3FB94F4771}"/>
              </a:ext>
            </a:extLst>
          </p:cNvPr>
          <p:cNvSpPr txBox="1"/>
          <p:nvPr/>
        </p:nvSpPr>
        <p:spPr>
          <a:xfrm>
            <a:off x="5388428" y="2637065"/>
            <a:ext cx="3241221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cs typeface="Calibri"/>
              </a:rPr>
              <a:t>For position 'index' try character 'c'. If there is a match c is leaked, and it is possible to go to the next index position</a:t>
            </a:r>
          </a:p>
        </p:txBody>
      </p:sp>
    </p:spTree>
    <p:extLst>
      <p:ext uri="{BB962C8B-B14F-4D97-AF65-F5344CB8AC3E}">
        <p14:creationId xmlns:p14="http://schemas.microsoft.com/office/powerpoint/2010/main" val="42837894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48600" cy="3268624"/>
          </a:xfrm>
        </p:spPr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Overview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A simple case: Login Bypass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Union-Based SQL Injections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Retrieving The Database Structure: </a:t>
            </a:r>
            <a:r>
              <a:rPr lang="en-US" i="1" dirty="0" err="1">
                <a:latin typeface="Calibri"/>
                <a:cs typeface="Calibri"/>
              </a:rPr>
              <a:t>infomation_schema</a:t>
            </a:r>
            <a:endParaRPr lang="en-US" i="1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Blind SQL Injections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Preventing SQL Injections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25583D-0DAB-42F7-BD5E-8B2ED2D92CA3}"/>
              </a:ext>
            </a:extLst>
          </p:cNvPr>
          <p:cNvSpPr/>
          <p:nvPr/>
        </p:nvSpPr>
        <p:spPr>
          <a:xfrm>
            <a:off x="579664" y="1306286"/>
            <a:ext cx="7992835" cy="249010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93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62E8-A354-4E62-881A-373BF28F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DB879-A14D-4F8D-997E-FFFB2A81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0B978-7DDD-4D25-B55E-4D24E7261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There are different ways to prevent SQL injections: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Escape everything 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Use Prepared Statements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Use an ORM (</a:t>
            </a:r>
            <a:r>
              <a:rPr lang="en-GB" b="0" i="0" dirty="0">
                <a:effectLst/>
                <a:latin typeface="Google Sans"/>
              </a:rPr>
              <a:t>Object-relational mapping)</a:t>
            </a:r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Whatever method you use, the general rule is </a:t>
            </a:r>
            <a:r>
              <a:rPr lang="en-US" b="1" dirty="0">
                <a:latin typeface="Calibri"/>
                <a:cs typeface="Calibri"/>
              </a:rPr>
              <a:t>don't trust any data!</a:t>
            </a:r>
          </a:p>
        </p:txBody>
      </p:sp>
    </p:spTree>
    <p:extLst>
      <p:ext uri="{BB962C8B-B14F-4D97-AF65-F5344CB8AC3E}">
        <p14:creationId xmlns:p14="http://schemas.microsoft.com/office/powerpoint/2010/main" val="31283622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A7F6-7962-4CAE-A7EB-2BE5A16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9BC83-2026-47BB-B9C2-53500E0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8EE8-F48F-4B12-A746-E6275A26C3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Escaping everything </a:t>
            </a:r>
            <a:r>
              <a:rPr lang="en-US" dirty="0">
                <a:latin typeface="Calibri"/>
                <a:cs typeface="Calibri"/>
              </a:rPr>
              <a:t>is the simplest ways, but also the less effective: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Escaping means replacing every dangerous character in its escaped version. 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For example:</a:t>
            </a:r>
          </a:p>
          <a:p>
            <a:pPr lvl="2"/>
            <a:r>
              <a:rPr lang="en-US" dirty="0">
                <a:latin typeface="Calibri"/>
                <a:cs typeface="Calibri"/>
              </a:rPr>
              <a:t>' == \'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This is the least effective because it is error-prone: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It is very easy to forget to escape an input, especially in big web applications</a:t>
            </a:r>
          </a:p>
          <a:p>
            <a:r>
              <a:rPr lang="en-US" dirty="0">
                <a:latin typeface="Calibri"/>
                <a:cs typeface="Calibri"/>
              </a:rPr>
              <a:t>Then the security of this method relies on the security of the escaping function used. In the past, some bypasses to such functions where common: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https://lonewolfzero.wordpress.com/2017/07/03/addslashes-multibyte-sql-injection-mysql-and-php-case-study/</a:t>
            </a:r>
          </a:p>
        </p:txBody>
      </p:sp>
    </p:spTree>
    <p:extLst>
      <p:ext uri="{BB962C8B-B14F-4D97-AF65-F5344CB8AC3E}">
        <p14:creationId xmlns:p14="http://schemas.microsoft.com/office/powerpoint/2010/main" val="13180123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A7F6-7962-4CAE-A7EB-2BE5A16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9BC83-2026-47BB-B9C2-53500E0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8EE8-F48F-4B12-A746-E6275A26C3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Prepared statements </a:t>
            </a:r>
            <a:r>
              <a:rPr lang="en-US" dirty="0">
                <a:latin typeface="Calibri"/>
                <a:cs typeface="Calibri"/>
              </a:rPr>
              <a:t>are a better alternative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They work similarly to the "escape everything" solution, but they are less error prone and they work way better</a:t>
            </a:r>
          </a:p>
          <a:p>
            <a:r>
              <a:rPr lang="en-GB" dirty="0">
                <a:latin typeface="Calibri"/>
                <a:cs typeface="Calibri"/>
              </a:rPr>
              <a:t>They separate the code of the query from the input data so that the database knows which part is SQL and which is data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28720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A7F6-7962-4CAE-A7EB-2BE5A16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9BC83-2026-47BB-B9C2-53500E0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8EE8-F48F-4B12-A746-E6275A26C3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fontScale="92500" lnSpcReduction="20000"/>
          </a:bodyPr>
          <a:lstStyle/>
          <a:p>
            <a:r>
              <a:rPr lang="en-US" dirty="0">
                <a:latin typeface="Calibri"/>
                <a:cs typeface="Calibri"/>
              </a:rPr>
              <a:t>For example, PHP by default comes with PHP Data Objects (PDO) </a:t>
            </a:r>
            <a:r>
              <a:rPr lang="en-US" dirty="0" err="1">
                <a:latin typeface="Calibri"/>
                <a:cs typeface="Calibri"/>
              </a:rPr>
              <a:t>extentions</a:t>
            </a:r>
            <a:r>
              <a:rPr lang="en-US" dirty="0">
                <a:latin typeface="Calibri"/>
                <a:cs typeface="Calibri"/>
              </a:rPr>
              <a:t>, a class that permits to do prepared statements:</a:t>
            </a:r>
          </a:p>
          <a:p>
            <a:endParaRPr lang="en-US" dirty="0">
              <a:latin typeface="Calibri"/>
              <a:cs typeface="Calibri"/>
            </a:endParaRPr>
          </a:p>
          <a:p>
            <a:endParaRPr lang="en-US" dirty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This code will send to the database the query and </a:t>
            </a:r>
            <a:r>
              <a:rPr lang="en" sz="2400" dirty="0">
                <a:latin typeface="Calibri"/>
                <a:cs typeface="Calibri"/>
              </a:rPr>
              <a:t>separately the username and the password. In this way the database knows that :username and :password don't contain any code</a:t>
            </a:r>
            <a:endParaRPr lang="en" sz="2400" dirty="0"/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0CB37-52A3-4623-9F71-7E9FE6B49456}"/>
              </a:ext>
            </a:extLst>
          </p:cNvPr>
          <p:cNvSpPr txBox="1"/>
          <p:nvPr/>
        </p:nvSpPr>
        <p:spPr>
          <a:xfrm>
            <a:off x="702129" y="2390685"/>
            <a:ext cx="79683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$</a:t>
            </a:r>
            <a:r>
              <a:rPr lang="en-US" dirty="0" err="1">
                <a:latin typeface="Consolas"/>
              </a:rPr>
              <a:t>sth</a:t>
            </a:r>
            <a:r>
              <a:rPr lang="en-US" dirty="0">
                <a:latin typeface="Consolas"/>
              </a:rPr>
              <a:t> = $</a:t>
            </a:r>
            <a:r>
              <a:rPr lang="en-US" dirty="0" err="1">
                <a:latin typeface="Consolas"/>
              </a:rPr>
              <a:t>dbh</a:t>
            </a:r>
            <a:r>
              <a:rPr lang="en-US" dirty="0">
                <a:latin typeface="Consolas"/>
              </a:rPr>
              <a:t>-&gt;prepare('SELECT * FROM users WHERE username = :username AND password = :password');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$</a:t>
            </a:r>
            <a:r>
              <a:rPr lang="en-US" dirty="0" err="1">
                <a:latin typeface="Consolas"/>
              </a:rPr>
              <a:t>sth</a:t>
            </a:r>
            <a:r>
              <a:rPr lang="en-US" dirty="0">
                <a:latin typeface="Consolas"/>
              </a:rPr>
              <a:t>-&gt;</a:t>
            </a:r>
            <a:r>
              <a:rPr lang="en-US" dirty="0" err="1">
                <a:latin typeface="Consolas"/>
              </a:rPr>
              <a:t>bindParam</a:t>
            </a:r>
            <a:r>
              <a:rPr lang="en-US" dirty="0">
                <a:latin typeface="Consolas"/>
              </a:rPr>
              <a:t>(':username', $username);</a:t>
            </a:r>
          </a:p>
          <a:p>
            <a:r>
              <a:rPr lang="en-US" dirty="0">
                <a:latin typeface="Consolas"/>
              </a:rPr>
              <a:t>$</a:t>
            </a:r>
            <a:r>
              <a:rPr lang="en-US" dirty="0" err="1">
                <a:latin typeface="Consolas"/>
              </a:rPr>
              <a:t>sth</a:t>
            </a:r>
            <a:r>
              <a:rPr lang="en-US" dirty="0">
                <a:latin typeface="Consolas"/>
              </a:rPr>
              <a:t>-&gt;</a:t>
            </a:r>
            <a:r>
              <a:rPr lang="en-US" dirty="0" err="1">
                <a:latin typeface="Consolas"/>
              </a:rPr>
              <a:t>bindParam</a:t>
            </a:r>
            <a:r>
              <a:rPr lang="en-US" dirty="0">
                <a:latin typeface="Consolas"/>
              </a:rPr>
              <a:t>(':password', $password);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5463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A7F6-7962-4CAE-A7EB-2BE5A16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9BC83-2026-47BB-B9C2-53500E0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8EE8-F48F-4B12-A746-E6275A26C3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 lnSpcReduction="10000"/>
          </a:bodyPr>
          <a:lstStyle/>
          <a:p>
            <a:r>
              <a:rPr lang="en-US" dirty="0">
                <a:latin typeface="Calibri"/>
                <a:cs typeface="Calibri"/>
              </a:rPr>
              <a:t>The best way to avoid completely SQL Injections is to avoid writing queries</a:t>
            </a:r>
            <a:endParaRPr lang="en-US" dirty="0"/>
          </a:p>
          <a:p>
            <a:r>
              <a:rPr lang="en-US" dirty="0">
                <a:latin typeface="Calibri"/>
                <a:cs typeface="Calibri"/>
              </a:rPr>
              <a:t>This is possible when using an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Object–relational mapping</a:t>
            </a:r>
            <a:r>
              <a:rPr lang="en-US" dirty="0">
                <a:latin typeface="Calibri"/>
                <a:cs typeface="Calibri"/>
              </a:rPr>
              <a:t> (ORM)</a:t>
            </a:r>
          </a:p>
          <a:p>
            <a:r>
              <a:rPr lang="en-US" dirty="0">
                <a:latin typeface="Calibri"/>
                <a:cs typeface="Calibri"/>
              </a:rPr>
              <a:t>The idea is simple: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Instead of writing a query anytime we need some data, the programmer model the data she/he need as an object, and then she/he works with that</a:t>
            </a:r>
          </a:p>
          <a:p>
            <a:endParaRPr lang="en-US" dirty="0">
              <a:latin typeface="Calibri"/>
              <a:cs typeface="Calibri"/>
            </a:endParaRPr>
          </a:p>
          <a:p>
            <a:pPr marL="365760" lvl="1" indent="0">
              <a:buNone/>
            </a:pP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68409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A7F6-7962-4CAE-A7EB-2BE5A16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Preventing SQL injection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9BC83-2026-47BB-B9C2-53500E0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8EE8-F48F-4B12-A746-E6275A26C3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There are many ORMs; some examples include:</a:t>
            </a:r>
            <a:endParaRPr lang="en-US" dirty="0"/>
          </a:p>
          <a:p>
            <a:pPr lvl="1"/>
            <a:r>
              <a:rPr lang="en-US" dirty="0">
                <a:latin typeface="Calibri"/>
                <a:cs typeface="Calibri"/>
              </a:rPr>
              <a:t>SQLAlchemy – A python ORM</a:t>
            </a:r>
          </a:p>
          <a:p>
            <a:pPr lvl="2"/>
            <a:r>
              <a:rPr lang="en-US" dirty="0">
                <a:latin typeface="Calibri"/>
                <a:cs typeface="Calibri"/>
                <a:hlinkClick r:id="rId2"/>
              </a:rPr>
              <a:t>https://www.sqlalchemy.org/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Doctrine – Works on PHP</a:t>
            </a:r>
          </a:p>
          <a:p>
            <a:pPr lvl="2"/>
            <a:r>
              <a:rPr lang="en-US" dirty="0">
                <a:latin typeface="Calibri"/>
                <a:cs typeface="Calibri"/>
                <a:hlinkClick r:id="rId3"/>
              </a:rPr>
              <a:t>https://www.doctrine-project.org/projects/orm.html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Hibernate – For Java</a:t>
            </a:r>
          </a:p>
          <a:p>
            <a:pPr lvl="2"/>
            <a:r>
              <a:rPr lang="en-US" dirty="0">
                <a:latin typeface="Calibri"/>
                <a:cs typeface="Calibri"/>
                <a:hlinkClick r:id="rId4"/>
              </a:rPr>
              <a:t>https://hibernate.org/orm/</a:t>
            </a:r>
            <a:endParaRPr lang="en-US" dirty="0">
              <a:latin typeface="Calibri"/>
              <a:cs typeface="Calibri"/>
            </a:endParaRPr>
          </a:p>
          <a:p>
            <a:pPr lvl="1"/>
            <a:endParaRPr lang="en-US" dirty="0">
              <a:latin typeface="Calibri"/>
              <a:cs typeface="Calibri"/>
            </a:endParaRPr>
          </a:p>
          <a:p>
            <a:pPr lvl="1"/>
            <a:endParaRPr lang="en-US" dirty="0">
              <a:latin typeface="Calibri"/>
              <a:cs typeface="Calibri"/>
            </a:endParaRPr>
          </a:p>
          <a:p>
            <a:pPr marL="365760" lvl="1" indent="0">
              <a:buNone/>
            </a:pP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83072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6934200" cy="5143500"/>
          </a:xfrm>
          <a:prstGeom prst="rect">
            <a:avLst/>
          </a:prstGeom>
          <a:gradFill rotWithShape="0">
            <a:gsLst>
              <a:gs pos="0">
                <a:srgbClr val="365E8F"/>
              </a:gs>
              <a:gs pos="100000">
                <a:srgbClr val="0F243E"/>
              </a:gs>
            </a:gsLst>
            <a:lin ang="5400000" scaled="1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663624"/>
            <a:ext cx="6934200" cy="1813126"/>
          </a:xfrm>
          <a:prstGeom prst="rect">
            <a:avLst/>
          </a:prstGeom>
          <a:gradFill flip="none" rotWithShape="1">
            <a:gsLst>
              <a:gs pos="0">
                <a:srgbClr val="365F91">
                  <a:alpha val="36000"/>
                </a:srgbClr>
              </a:gs>
              <a:gs pos="100000">
                <a:srgbClr val="0066FF">
                  <a:alpha val="6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noFill/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 vert="horz" wrap="square" lIns="468000" tIns="360000" rIns="360000" bIns="36000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 Neue Medium"/>
                <a:cs typeface="Helvetica Neue Medium"/>
              </a:rPr>
              <a:t>SQL injections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533400" cy="285750"/>
          </a:xfrm>
        </p:spPr>
        <p:txBody>
          <a:bodyPr>
            <a:normAutofit/>
          </a:bodyPr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78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EA82F60-B719-4839-9466-88EA10CEC9F2}"/>
              </a:ext>
            </a:extLst>
          </p:cNvPr>
          <p:cNvSpPr txBox="1">
            <a:spLocks noChangeArrowheads="1"/>
          </p:cNvSpPr>
          <p:nvPr/>
        </p:nvSpPr>
        <p:spPr>
          <a:xfrm>
            <a:off x="6955970" y="64790"/>
            <a:ext cx="2188030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it-IT" b="1" dirty="0">
                <a:solidFill>
                  <a:srgbClr val="000099"/>
                </a:solidFill>
                <a:latin typeface="Calibri"/>
                <a:cs typeface="Calibri"/>
              </a:rPr>
              <a:t>Riccardo BONAFEDE</a:t>
            </a:r>
            <a:endParaRPr lang="it-IT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it-IT" sz="1400" dirty="0">
                <a:solidFill>
                  <a:srgbClr val="000099"/>
                </a:solidFill>
                <a:latin typeface="Calibri"/>
                <a:cs typeface="Calibri"/>
              </a:rPr>
              <a:t>Università di Padova</a:t>
            </a:r>
            <a:endParaRPr lang="it-IT" sz="140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1DD7EABF-DC0B-46D2-A175-5397CB78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05694"/>
            <a:ext cx="221057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marL="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https</a:t>
            </a:r>
            <a:r>
              <a:rPr lang="it-IT" sz="1400" i="1" dirty="0">
                <a:solidFill>
                  <a:srgbClr val="000099"/>
                </a:solidFill>
                <a:latin typeface="Helvetica Neue Medium"/>
                <a:cs typeface="Helvetica Neue Medium"/>
              </a:rPr>
              <a:t>://</a:t>
            </a:r>
            <a:r>
              <a:rPr lang="it-IT" sz="1400" i="1" dirty="0" err="1">
                <a:solidFill>
                  <a:srgbClr val="000099"/>
                </a:solidFill>
                <a:latin typeface="Helvetica Neue Medium"/>
                <a:cs typeface="Helvetica Neue Medium"/>
              </a:rPr>
              <a:t>cybersecnatlab.it</a:t>
            </a:r>
            <a:endParaRPr lang="it-IT" sz="1400" i="1" dirty="0">
              <a:solidFill>
                <a:srgbClr val="000099"/>
              </a:solidFill>
              <a:latin typeface="Helvetica Neue Medium"/>
              <a:cs typeface="Helvetica Neue Medium"/>
            </a:endParaRPr>
          </a:p>
        </p:txBody>
      </p:sp>
      <p:pic>
        <p:nvPicPr>
          <p:cNvPr id="15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A44F66C7-1E30-405B-860E-4C6B95704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85" y="2814020"/>
            <a:ext cx="2160037" cy="63831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EF036E-DA1E-462D-8A3C-007877B10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19" y="3742606"/>
            <a:ext cx="2005733" cy="5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4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 Presentation.potx</Template>
  <TotalTime>0</TotalTime>
  <Words>4699</Words>
  <Application>Microsoft Office PowerPoint</Application>
  <PresentationFormat>On-screen Show (16:9)</PresentationFormat>
  <Paragraphs>578</Paragraphs>
  <Slides>78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Calibri</vt:lpstr>
      <vt:lpstr>Consolas</vt:lpstr>
      <vt:lpstr>Google Sans</vt:lpstr>
      <vt:lpstr>Helvetica Neue</vt:lpstr>
      <vt:lpstr>Helvetica Neue Medium</vt:lpstr>
      <vt:lpstr>Tw Cen MT</vt:lpstr>
      <vt:lpstr>Wingdings</vt:lpstr>
      <vt:lpstr>Widescreen Presentation</vt:lpstr>
      <vt:lpstr>PowerPoint Presentation</vt:lpstr>
      <vt:lpstr>License &amp; Disclaimer</vt:lpstr>
      <vt:lpstr>Goal</vt:lpstr>
      <vt:lpstr>Prerequisites</vt:lpstr>
      <vt:lpstr>Outline</vt:lpstr>
      <vt:lpstr>Outline</vt:lpstr>
      <vt:lpstr>Overview</vt:lpstr>
      <vt:lpstr>Overview</vt:lpstr>
      <vt:lpstr>A Simple Case: Login Bypass</vt:lpstr>
      <vt:lpstr>A Simple Case: Login Bypass</vt:lpstr>
      <vt:lpstr>A Simple Case: Login Bypass</vt:lpstr>
      <vt:lpstr>A Simple Case: Login Bypass</vt:lpstr>
      <vt:lpstr>A Simple Case: Login Bypass</vt:lpstr>
      <vt:lpstr>A Simple Case: Login Bypass</vt:lpstr>
      <vt:lpstr>A Simple Case: Login Bypass</vt:lpstr>
      <vt:lpstr>Outline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Union Based SQL Injections</vt:lpstr>
      <vt:lpstr>Retrieving the Number of Columns</vt:lpstr>
      <vt:lpstr>Retrieving the Number of Columns</vt:lpstr>
      <vt:lpstr>Retrieving the Number of Columns</vt:lpstr>
      <vt:lpstr>Retrieving the Number of Columns</vt:lpstr>
      <vt:lpstr>Union Based SQL Injections</vt:lpstr>
      <vt:lpstr>Union Based SQL Injections</vt:lpstr>
      <vt:lpstr>Union Based SQL Injections</vt:lpstr>
      <vt:lpstr>Union Based SQL Injections</vt:lpstr>
      <vt:lpstr>Information_schema</vt:lpstr>
      <vt:lpstr>Information_schema</vt:lpstr>
      <vt:lpstr>Information_schema</vt:lpstr>
      <vt:lpstr>Information_schema</vt:lpstr>
      <vt:lpstr>Information_schema</vt:lpstr>
      <vt:lpstr>Information_schema</vt:lpstr>
      <vt:lpstr>Union Based SQL Injections: Recap</vt:lpstr>
      <vt:lpstr>Union Based SQL Injections: Recap</vt:lpstr>
      <vt:lpstr>Union Based SQL Injections: Recap</vt:lpstr>
      <vt:lpstr>Union Based SQL Injections: Recap</vt:lpstr>
      <vt:lpstr>Outline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Blind SQL injections</vt:lpstr>
      <vt:lpstr>Outline</vt:lpstr>
      <vt:lpstr>Preventing SQL injection</vt:lpstr>
      <vt:lpstr>Preventing SQL injection</vt:lpstr>
      <vt:lpstr>Preventing SQL injection</vt:lpstr>
      <vt:lpstr>Preventing SQL injection</vt:lpstr>
      <vt:lpstr>Preventing SQL injection</vt:lpstr>
      <vt:lpstr>Preventing SQL injection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3246</cp:revision>
  <cp:lastPrinted>2019-06-17T08:00:26Z</cp:lastPrinted>
  <dcterms:created xsi:type="dcterms:W3CDTF">2010-04-19T20:53:40Z</dcterms:created>
  <dcterms:modified xsi:type="dcterms:W3CDTF">2021-04-14T15:48:22Z</dcterms:modified>
</cp:coreProperties>
</file>